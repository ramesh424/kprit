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60" r:id="rId2"/>
    <p:sldId id="316" r:id="rId3"/>
    <p:sldId id="261" r:id="rId4"/>
    <p:sldId id="262" r:id="rId5"/>
    <p:sldId id="267" r:id="rId6"/>
    <p:sldId id="268" r:id="rId7"/>
    <p:sldId id="263" r:id="rId8"/>
    <p:sldId id="269" r:id="rId9"/>
    <p:sldId id="270" r:id="rId10"/>
    <p:sldId id="298" r:id="rId11"/>
    <p:sldId id="271" r:id="rId12"/>
    <p:sldId id="299" r:id="rId13"/>
    <p:sldId id="272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31"/>
    <p:restoredTop sz="94690"/>
  </p:normalViewPr>
  <p:slideViewPr>
    <p:cSldViewPr snapToGrid="0">
      <p:cViewPr varScale="1">
        <p:scale>
          <a:sx n="151" d="100"/>
          <a:sy n="151" d="100"/>
        </p:scale>
        <p:origin x="11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CC4D1-15FC-1040-AA4D-BC71FEC3630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78A82-58FE-2646-A64B-E2B396EB3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E50D90-20F1-430C-9ADB-10DA0163A7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9CFA6-5213-49D4-88B8-744DF912E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20576-B332-4142-87A0-53472DE69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92311-E735-44BA-9331-596CEAE5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AC77E-5199-4EE8-A0FB-D7A563B61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1661F-949E-44BC-99ED-E2A53E4AA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621D-BA58-4B1E-800D-923BA5D7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87C9F-6885-4E63-AB6A-27E5E9EA4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12EDA-224E-41C3-9A96-FE74A935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035C8-9902-49CC-B1C5-EFA631D77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0C91F-41C6-4093-9368-20821951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1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C9A4-89B4-45BD-A588-312B16449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FA715-40EA-4781-B8E3-E1F376346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38A19-6AE6-4101-AC83-1825F455B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50F2-92C7-460A-8415-F3016B87C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586DE-42C0-499A-93F2-8C7852AE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9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991C-115C-49F5-91DC-B7E74C3E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5A615-890C-4412-9F8A-A2FA7A7A2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B11E4-D020-4DB4-B4D7-C528CD1A6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3DD0B-EE9C-4CED-828D-83FFD5FA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F495F-8BE5-45FC-9279-E45BE6AC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A65C9-1558-4D3F-89AF-62752985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151A6-B963-4530-813E-FA38AA43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88731-CC0C-40D4-A46B-3A6FECEEC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00F8-B820-42BB-9C2C-0F380676F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322684-1830-44A7-B6BC-AE6908701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BE060D-F756-47EA-AC68-6D2AD3476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21C84B-E980-4BCD-94AA-ADB97D9F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8563A6-47DE-4F1A-88B9-0F19A199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84826F-51EC-44C1-B288-DC59337B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0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362A-ECCF-43FC-951C-F862B7D5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EC47AF-C6A4-448A-8562-C5256BCF6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DAF0D-2BC3-40D4-AEEB-F817C239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AAA57-D615-4127-8F66-0A459605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40AA11-D633-4550-B3CE-E840AE26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15A94-9EF8-4A94-8E53-D0D2F97E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02213-9B99-4CDD-9991-DEE2E4E2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9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2417-6E16-499D-A059-EA1E34F05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E3500-C07C-4AB0-92A0-BDF358363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C798A-C8D6-4986-8365-70187951E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1DFE7-52C6-4BF8-9D5E-33E7BB31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F53EB-A25F-4886-826E-FB5C79DF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CD7B7-54BB-4E4A-84A9-487365D7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3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462EF-34B8-4797-8A40-6451AF6F9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B601D-CDC4-4C20-8974-0A081F7C5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015DE-55C7-4BF9-9913-5365DBE30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9060B-9873-44F3-8F1D-2AB5FCA0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44069-6475-4398-BC4A-2966364C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FE165-628A-455E-A82C-3C137572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5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B260-A3C6-4F1C-AE86-5E7A6702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BAB05-DC5E-4C26-B5B9-501A2927F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29F69-E1A3-4961-B566-FB29E8035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D5375-4648-42A6-9A17-CB9548D21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8BDD8-B43C-4BC3-BDA5-37E3384A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3DF1C7-01AB-49D5-86F0-2CDA7F4980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E6839-1692-4D71-93D7-3A64F4E6C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C27AA-F2F7-42BF-A405-F9007614B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9E373-A2EF-4FB1-84B4-6F179D5B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F79E5-750A-4FB5-A846-20A6B0890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1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24CA8-302D-4BDA-BC04-DFFBE6019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4A20C-1425-4028-B186-A9820576A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79126-97A9-4D5E-BCF1-1FEA07B2F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F7451-F4D2-4B51-84B6-00740BDB2A05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6271D-509B-4BCC-882D-9954D0AF3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22F54-4800-4DFB-9F5F-A40601B75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B308A-5BD7-4076-B52E-C8F6B6113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9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349" y="-16301"/>
            <a:ext cx="12192000" cy="6874301"/>
            <a:chOff x="4762" y="-12226"/>
            <a:chExt cx="9144000" cy="5155726"/>
          </a:xfrm>
        </p:grpSpPr>
        <p:sp>
          <p:nvSpPr>
            <p:cNvPr id="7" name="Rectangle 6"/>
            <p:cNvSpPr/>
            <p:nvPr/>
          </p:nvSpPr>
          <p:spPr>
            <a:xfrm>
              <a:off x="4762" y="0"/>
              <a:ext cx="9144000" cy="74295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762" y="-12226"/>
              <a:ext cx="223838" cy="5155726"/>
            </a:xfrm>
            <a:prstGeom prst="rect">
              <a:avLst/>
            </a:prstGeom>
            <a:solidFill>
              <a:srgbClr val="FFD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D3A9B9E-1385-FC09-39DA-6A0834B1BC12}"/>
              </a:ext>
            </a:extLst>
          </p:cNvPr>
          <p:cNvSpPr txBox="1"/>
          <p:nvPr/>
        </p:nvSpPr>
        <p:spPr>
          <a:xfrm>
            <a:off x="196850" y="2267635"/>
            <a:ext cx="120734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IoT Solutions: </a:t>
            </a:r>
          </a:p>
          <a:p>
            <a:pPr algn="ctr"/>
            <a:r>
              <a:rPr lang="en-US" sz="4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Hands-On Exploration of Hardware and Connectivity"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67F991-2EB0-6F07-C40D-A0FF7C9687EA}"/>
              </a:ext>
            </a:extLst>
          </p:cNvPr>
          <p:cNvSpPr txBox="1"/>
          <p:nvPr/>
        </p:nvSpPr>
        <p:spPr>
          <a:xfrm>
            <a:off x="8873065" y="5269406"/>
            <a:ext cx="31072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i="0" err="1">
                <a:solidFill>
                  <a:srgbClr val="333C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600" b="1" i="0">
                <a:solidFill>
                  <a:srgbClr val="333C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D. Ramesh Reddy, </a:t>
            </a:r>
          </a:p>
          <a:p>
            <a:pPr algn="ctr"/>
            <a:r>
              <a:rPr lang="en-IN" sz="1600" b="1">
                <a:solidFill>
                  <a:srgbClr val="333C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</a:p>
          <a:p>
            <a:pPr algn="ctr"/>
            <a:r>
              <a:rPr lang="en-IN" sz="1600" b="1" i="0">
                <a:solidFill>
                  <a:srgbClr val="333C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ECE, </a:t>
            </a:r>
          </a:p>
          <a:p>
            <a:pPr algn="ctr"/>
            <a:r>
              <a:rPr lang="en-IN" sz="1600" b="1">
                <a:solidFill>
                  <a:srgbClr val="333C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VNR VJIET</a:t>
            </a:r>
            <a:endParaRPr lang="en-IN" sz="1600" b="1" i="0">
              <a:solidFill>
                <a:srgbClr val="333C4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7CF77-D6DA-8C26-5718-C832B5546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1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1A968-4ABE-AF6D-0455-0A8EEB77A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2CCCDB-C10E-7381-9AE6-AAA1B8AFD575}"/>
              </a:ext>
            </a:extLst>
          </p:cNvPr>
          <p:cNvSpPr txBox="1"/>
          <p:nvPr/>
        </p:nvSpPr>
        <p:spPr>
          <a:xfrm>
            <a:off x="304800" y="1092201"/>
            <a:ext cx="117856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9585" marR="0" lvl="0" indent="-60958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IOT Comprises “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Things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” with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Unique ID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and Connected to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Internet.</a:t>
            </a:r>
          </a:p>
          <a:p>
            <a:pPr marL="609585" marR="0" lvl="0" indent="-60958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Focus is Configuration, Control and Networking Via the internet of  Devices or “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Things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”. </a:t>
            </a:r>
          </a:p>
          <a:p>
            <a:pPr marL="609585" marR="0" lvl="0" indent="-60958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Revolution of Capabilities (Communications, Networking and Cloud Technologies) at the End Points (Things).</a:t>
            </a:r>
          </a:p>
          <a:p>
            <a:pPr marL="609585" marR="0" lvl="0" indent="-60958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Experts forecast by 2020 around 50 billion devices connected to Internet.</a:t>
            </a:r>
          </a:p>
          <a:p>
            <a:pPr marL="609585" marR="0" lvl="0" indent="-60958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Scope is not just limited to connecting things to internet. </a:t>
            </a:r>
          </a:p>
          <a:p>
            <a:pPr marL="609585" marR="0" lvl="0" indent="-60958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Allows things to communicate and exchange data. </a:t>
            </a:r>
          </a:p>
          <a:p>
            <a:pPr marL="609585" marR="0" lvl="0" indent="-6095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609585" marR="0" lvl="0" indent="-6095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609585" marR="0" lvl="0" indent="-60958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043D4C-7E61-8A95-ED39-C103990A91E2}"/>
              </a:ext>
            </a:extLst>
          </p:cNvPr>
          <p:cNvGrpSpPr/>
          <p:nvPr/>
        </p:nvGrpSpPr>
        <p:grpSpPr>
          <a:xfrm>
            <a:off x="6349" y="-16301"/>
            <a:ext cx="12192000" cy="6874301"/>
            <a:chOff x="4762" y="-12226"/>
            <a:chExt cx="9144000" cy="515572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6E8651-422D-3D27-8B92-270F7F4D69D3}"/>
                </a:ext>
              </a:extLst>
            </p:cNvPr>
            <p:cNvSpPr/>
            <p:nvPr/>
          </p:nvSpPr>
          <p:spPr>
            <a:xfrm>
              <a:off x="4762" y="0"/>
              <a:ext cx="9144000" cy="74295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630CDD4-18D2-2CF7-7614-D50F5F28A204}"/>
                </a:ext>
              </a:extLst>
            </p:cNvPr>
            <p:cNvSpPr/>
            <p:nvPr/>
          </p:nvSpPr>
          <p:spPr>
            <a:xfrm>
              <a:off x="4762" y="-12226"/>
              <a:ext cx="223838" cy="5155726"/>
            </a:xfrm>
            <a:prstGeom prst="rect">
              <a:avLst/>
            </a:prstGeom>
            <a:solidFill>
              <a:srgbClr val="FFD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AFF11CB9-6F5F-2F2E-0CAD-371317210568}"/>
              </a:ext>
            </a:extLst>
          </p:cNvPr>
          <p:cNvSpPr/>
          <p:nvPr/>
        </p:nvSpPr>
        <p:spPr>
          <a:xfrm>
            <a:off x="311149" y="-103238"/>
            <a:ext cx="5480051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89" marR="0" lvl="0" indent="-457189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42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itchFamily="34" charset="0"/>
                <a:ea typeface="+mn-ea"/>
                <a:cs typeface="+mn-cs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ED19B7-7065-4619-E402-4B896A6FE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9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1092201"/>
            <a:ext cx="117856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9585" indent="-609585" algn="just">
              <a:buFont typeface="Wingdings" pitchFamily="2" charset="2"/>
              <a:buChar char="v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IOT Comprises “</a:t>
            </a:r>
            <a:r>
              <a:rPr lang="en-US" sz="320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Things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” with </a:t>
            </a:r>
            <a:r>
              <a:rPr lang="en-US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Unique ID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and Connected to </a:t>
            </a:r>
            <a:r>
              <a:rPr lang="en-US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Internet.</a:t>
            </a:r>
          </a:p>
          <a:p>
            <a:pPr marL="609585" indent="-609585" algn="just">
              <a:buFont typeface="Wingdings" pitchFamily="2" charset="2"/>
              <a:buChar char="v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Focus is Configuration, Control and Networking Via the internet of  Devices or “</a:t>
            </a:r>
            <a:r>
              <a:rPr lang="en-US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Things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”. </a:t>
            </a:r>
          </a:p>
          <a:p>
            <a:pPr marL="609585" indent="-609585" algn="just">
              <a:buFont typeface="Wingdings" pitchFamily="2" charset="2"/>
              <a:buChar char="v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Revolution of Capabilities (Communications, Networking and Cloud Technologies) at the End Points (Things).</a:t>
            </a:r>
          </a:p>
          <a:p>
            <a:pPr marL="609585" indent="-609585" algn="just">
              <a:buFont typeface="Wingdings" pitchFamily="2" charset="2"/>
              <a:buChar char="v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Experts forecast by 2020 around 50 billion devices connected to Internet.</a:t>
            </a:r>
          </a:p>
          <a:p>
            <a:pPr marL="609585" indent="-609585" algn="just">
              <a:buFont typeface="Wingdings" pitchFamily="2" charset="2"/>
              <a:buChar char="v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Scope is not just limited to connecting things to internet. </a:t>
            </a:r>
          </a:p>
          <a:p>
            <a:pPr marL="609585" indent="-609585" algn="just">
              <a:buFont typeface="Wingdings" pitchFamily="2" charset="2"/>
              <a:buChar char="v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Allows things to communicate and exchange data. </a:t>
            </a:r>
          </a:p>
          <a:p>
            <a:pPr marL="609585" indent="-609585">
              <a:buFont typeface="+mj-lt"/>
              <a:buAutoNum type="arabicPeriod"/>
            </a:pPr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pPr marL="609585" indent="-609585">
              <a:buFont typeface="+mj-lt"/>
              <a:buAutoNum type="arabicPeriod"/>
            </a:pPr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pPr marL="609585" indent="-609585">
              <a:buFont typeface="+mj-lt"/>
              <a:buAutoNum type="arabicPeriod"/>
            </a:pPr>
            <a:endParaRPr lang="en-US" sz="320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349" y="-16301"/>
            <a:ext cx="12192000" cy="6874301"/>
            <a:chOff x="4762" y="-12226"/>
            <a:chExt cx="9144000" cy="5155726"/>
          </a:xfrm>
        </p:grpSpPr>
        <p:sp>
          <p:nvSpPr>
            <p:cNvPr id="7" name="Rectangle 6"/>
            <p:cNvSpPr/>
            <p:nvPr/>
          </p:nvSpPr>
          <p:spPr>
            <a:xfrm>
              <a:off x="4762" y="0"/>
              <a:ext cx="9144000" cy="74295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762" y="-12226"/>
              <a:ext cx="223838" cy="5155726"/>
            </a:xfrm>
            <a:prstGeom prst="rect">
              <a:avLst/>
            </a:prstGeom>
            <a:solidFill>
              <a:srgbClr val="FFD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8" name="Rectangle 7"/>
          <p:cNvSpPr/>
          <p:nvPr/>
        </p:nvSpPr>
        <p:spPr>
          <a:xfrm>
            <a:off x="311149" y="-103238"/>
            <a:ext cx="5480051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US" sz="4267">
                <a:latin typeface="Gill Sans MT" pitchFamily="34" charset="0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69D610-8B8D-72E5-F4A3-C4F859ACF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7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06400" y="990601"/>
            <a:ext cx="11785600" cy="5174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9585" indent="-60958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3200" b="1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Raw and Unprocessed Data</a:t>
            </a:r>
          </a:p>
          <a:p>
            <a:pPr marL="609585" indent="-60958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Information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: filtering, Processing, Categorizing, Condensing data</a:t>
            </a:r>
          </a:p>
          <a:p>
            <a:pPr marL="609585" indent="-60958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Knowledge: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Organizing and Structuring information </a:t>
            </a:r>
          </a:p>
          <a:p>
            <a:pPr marL="609585" indent="-609585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Ex: Data (72,45,600,21082020,XX,YY); (84,56,XX,YY,ZZ)</a:t>
            </a:r>
          </a:p>
          <a:p>
            <a:pPr marL="609585" indent="-609585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Information: Temperature 72, Humidity 45, Time 6:00 , Date : 21:08:2020.</a:t>
            </a:r>
          </a:p>
          <a:p>
            <a:pPr marL="609585" indent="-609585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Average temperature of the day is 70.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0" y="-16301"/>
            <a:ext cx="12192000" cy="990600"/>
            <a:chOff x="0" y="-12226"/>
            <a:chExt cx="9144000" cy="742950"/>
          </a:xfrm>
        </p:grpSpPr>
        <p:sp>
          <p:nvSpPr>
            <p:cNvPr id="6" name="Rectangle 5"/>
            <p:cNvSpPr/>
            <p:nvPr/>
          </p:nvSpPr>
          <p:spPr>
            <a:xfrm>
              <a:off x="0" y="-12226"/>
              <a:ext cx="9144000" cy="74295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33362" y="-11847"/>
              <a:ext cx="4110038" cy="7212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189" indent="-457189">
                <a:lnSpc>
                  <a:spcPct val="150000"/>
                </a:lnSpc>
                <a:buFont typeface="+mj-lt"/>
                <a:buAutoNum type="arabicPeriod"/>
              </a:pPr>
              <a:r>
                <a:rPr lang="en-US" sz="4267">
                  <a:latin typeface="Gill Sans MT" pitchFamily="34" charset="0"/>
                </a:rPr>
                <a:t>Introduction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5252E5-7451-5333-F5A2-5BD639368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1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06400" y="749380"/>
            <a:ext cx="11785600" cy="5913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IOT Based Water Quality Monitoring </a:t>
            </a:r>
          </a:p>
          <a:p>
            <a:pPr marL="609585" indent="-60958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3200" b="1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Raw and Unprocessed Data </a:t>
            </a:r>
          </a:p>
          <a:p>
            <a:pPr marL="609585" indent="-60958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Node-1 (7,2000,23.5,6) Node-2 (2,1000,25.07,10)</a:t>
            </a:r>
          </a:p>
          <a:p>
            <a:pPr marL="609585" indent="-60958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Information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: Processing the Data.</a:t>
            </a:r>
          </a:p>
          <a:p>
            <a:pPr marL="609585" indent="-60958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Node 1: </a:t>
            </a:r>
            <a:r>
              <a:rPr lang="en-US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PH: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7, </a:t>
            </a:r>
            <a:r>
              <a:rPr lang="en-US" sz="32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Turbidity: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2000 , </a:t>
            </a:r>
            <a:r>
              <a:rPr lang="en-US" sz="320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Temp: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23.5 *c, </a:t>
            </a:r>
            <a:r>
              <a:rPr lang="en-US" sz="320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Salinity: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6 PPM</a:t>
            </a:r>
          </a:p>
          <a:p>
            <a:pPr marL="609585" indent="-60958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Knowledge: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Organizing and Structuring information.</a:t>
            </a:r>
          </a:p>
          <a:p>
            <a:pPr marL="609585" indent="-60958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The water at Node-1 is Contaminated. </a:t>
            </a:r>
          </a:p>
          <a:p>
            <a:pPr marL="609585" indent="-609585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Sends Request to Node-1 “</a:t>
            </a:r>
            <a:r>
              <a:rPr lang="en-US" sz="32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TURN OF MOTOR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”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0" y="-16301"/>
            <a:ext cx="12192000" cy="990600"/>
            <a:chOff x="0" y="-12226"/>
            <a:chExt cx="9144000" cy="742950"/>
          </a:xfrm>
        </p:grpSpPr>
        <p:sp>
          <p:nvSpPr>
            <p:cNvPr id="6" name="Rectangle 5"/>
            <p:cNvSpPr/>
            <p:nvPr/>
          </p:nvSpPr>
          <p:spPr>
            <a:xfrm>
              <a:off x="0" y="-12226"/>
              <a:ext cx="9144000" cy="74295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33362" y="-11847"/>
              <a:ext cx="4110038" cy="7212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189" indent="-457189">
                <a:lnSpc>
                  <a:spcPct val="150000"/>
                </a:lnSpc>
                <a:buFont typeface="+mj-lt"/>
                <a:buAutoNum type="arabicPeriod"/>
              </a:pPr>
              <a:r>
                <a:rPr lang="en-US" sz="4267">
                  <a:latin typeface="Gill Sans MT" pitchFamily="34" charset="0"/>
                </a:rPr>
                <a:t>Introduction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387BA-B53B-1D0D-1AE0-603CD1387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4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1092200"/>
            <a:ext cx="38608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9585" indent="-609585">
              <a:buFont typeface="+mj-lt"/>
              <a:buAutoNum type="arabicPeriod"/>
            </a:pPr>
            <a:r>
              <a:rPr lang="en-US" sz="3200">
                <a:latin typeface="Gill Sans MT" pitchFamily="34" charset="0"/>
              </a:rPr>
              <a:t>Home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3200">
                <a:latin typeface="Gill Sans MT" pitchFamily="34" charset="0"/>
              </a:rPr>
              <a:t>Cities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3200">
                <a:latin typeface="Gill Sans MT" pitchFamily="34" charset="0"/>
              </a:rPr>
              <a:t>Environment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3200">
                <a:latin typeface="Gill Sans MT" pitchFamily="34" charset="0"/>
              </a:rPr>
              <a:t>Energy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3200">
                <a:latin typeface="Gill Sans MT" pitchFamily="34" charset="0"/>
              </a:rPr>
              <a:t>Retail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3200">
                <a:latin typeface="Gill Sans MT" pitchFamily="34" charset="0"/>
              </a:rPr>
              <a:t>Logistics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3200">
                <a:latin typeface="Gill Sans MT" pitchFamily="34" charset="0"/>
              </a:rPr>
              <a:t>Agriculture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3200">
                <a:latin typeface="Gill Sans MT" pitchFamily="34" charset="0"/>
              </a:rPr>
              <a:t>Industry</a:t>
            </a:r>
          </a:p>
          <a:p>
            <a:pPr marL="609585" indent="-609585">
              <a:buFont typeface="+mj-lt"/>
              <a:buAutoNum type="arabicPeriod"/>
            </a:pPr>
            <a:r>
              <a:rPr lang="en-US" sz="3200">
                <a:latin typeface="Gill Sans MT" pitchFamily="34" charset="0"/>
              </a:rPr>
              <a:t>Health and Lifestyle</a:t>
            </a:r>
          </a:p>
          <a:p>
            <a:endParaRPr lang="en-US" sz="2400"/>
          </a:p>
        </p:txBody>
      </p:sp>
      <p:grpSp>
        <p:nvGrpSpPr>
          <p:cNvPr id="6" name="Group 5"/>
          <p:cNvGrpSpPr/>
          <p:nvPr/>
        </p:nvGrpSpPr>
        <p:grpSpPr>
          <a:xfrm>
            <a:off x="0" y="-16301"/>
            <a:ext cx="12192000" cy="990600"/>
            <a:chOff x="0" y="-12226"/>
            <a:chExt cx="9144000" cy="742950"/>
          </a:xfrm>
        </p:grpSpPr>
        <p:sp>
          <p:nvSpPr>
            <p:cNvPr id="7" name="Rectangle 6"/>
            <p:cNvSpPr/>
            <p:nvPr/>
          </p:nvSpPr>
          <p:spPr>
            <a:xfrm>
              <a:off x="0" y="-12226"/>
              <a:ext cx="9144000" cy="74295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52400" y="-11847"/>
              <a:ext cx="4110038" cy="7212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189" indent="-457189">
                <a:lnSpc>
                  <a:spcPct val="150000"/>
                </a:lnSpc>
                <a:buFont typeface="+mj-lt"/>
                <a:buAutoNum type="arabicPeriod"/>
              </a:pPr>
              <a:r>
                <a:rPr lang="en-US" sz="4267">
                  <a:latin typeface="Gill Sans MT" pitchFamily="34" charset="0"/>
                </a:rPr>
                <a:t>Introduction</a:t>
              </a:r>
            </a:p>
          </p:txBody>
        </p:sp>
      </p:grpSp>
      <p:pic>
        <p:nvPicPr>
          <p:cNvPr id="2050" name="Picture 2" descr="E:\Ramesh\VNR VJIET\Course Work 20-21\Teaching\IOT CSE\Pictures\applicati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200" y="1092200"/>
            <a:ext cx="8280400" cy="523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CAB532-66E6-E9D9-EAA5-CB696B91D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0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/>
          <p:cNvSpPr/>
          <p:nvPr/>
        </p:nvSpPr>
        <p:spPr>
          <a:xfrm>
            <a:off x="508000" y="1092200"/>
            <a:ext cx="11074400" cy="5176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>
                <a:latin typeface="Gill Sans MT" pitchFamily="34" charset="0"/>
              </a:rPr>
              <a:t>A </a:t>
            </a:r>
            <a:r>
              <a:rPr lang="en-US" sz="3200">
                <a:solidFill>
                  <a:srgbClr val="FF0000"/>
                </a:solidFill>
                <a:latin typeface="Gill Sans MT" pitchFamily="34" charset="0"/>
              </a:rPr>
              <a:t>dynamic</a:t>
            </a:r>
            <a:r>
              <a:rPr lang="en-US" sz="3200">
                <a:latin typeface="Gill Sans MT" pitchFamily="34" charset="0"/>
              </a:rPr>
              <a:t> global network </a:t>
            </a:r>
            <a:r>
              <a:rPr lang="en-US" sz="3200">
                <a:solidFill>
                  <a:srgbClr val="FF0000"/>
                </a:solidFill>
                <a:latin typeface="Gill Sans MT" pitchFamily="34" charset="0"/>
              </a:rPr>
              <a:t>infrastructure</a:t>
            </a:r>
            <a:r>
              <a:rPr lang="en-US" sz="3200">
                <a:latin typeface="Gill Sans MT" pitchFamily="34" charset="0"/>
              </a:rPr>
              <a:t> with </a:t>
            </a:r>
            <a:r>
              <a:rPr lang="en-US" sz="3200">
                <a:solidFill>
                  <a:srgbClr val="FF0000"/>
                </a:solidFill>
                <a:latin typeface="Gill Sans MT" pitchFamily="34" charset="0"/>
              </a:rPr>
              <a:t>self-configuring</a:t>
            </a:r>
            <a:r>
              <a:rPr lang="en-US" sz="3200">
                <a:latin typeface="Gill Sans MT" pitchFamily="34" charset="0"/>
              </a:rPr>
              <a:t> capabilities based on standard and </a:t>
            </a:r>
            <a:r>
              <a:rPr lang="en-US" sz="3200">
                <a:solidFill>
                  <a:srgbClr val="FF0000"/>
                </a:solidFill>
                <a:latin typeface="Gill Sans MT" pitchFamily="34" charset="0"/>
              </a:rPr>
              <a:t>interoperable communication protocols</a:t>
            </a:r>
            <a:r>
              <a:rPr lang="en-US" sz="3200">
                <a:latin typeface="Gill Sans MT" pitchFamily="34" charset="0"/>
              </a:rPr>
              <a:t> where physical and virtual "things" have </a:t>
            </a:r>
            <a:r>
              <a:rPr lang="en-US" sz="3200">
                <a:solidFill>
                  <a:srgbClr val="FF0000"/>
                </a:solidFill>
                <a:latin typeface="Gill Sans MT" pitchFamily="34" charset="0"/>
              </a:rPr>
              <a:t>identities</a:t>
            </a:r>
            <a:r>
              <a:rPr lang="en-US" sz="3200">
                <a:latin typeface="Gill Sans MT" pitchFamily="34" charset="0"/>
              </a:rPr>
              <a:t>, physical attributes, and virtual personalities and use intelligent interfaces, and are seamlessly </a:t>
            </a:r>
            <a:r>
              <a:rPr lang="en-US" sz="3200">
                <a:solidFill>
                  <a:srgbClr val="FF0000"/>
                </a:solidFill>
                <a:latin typeface="Gill Sans MT" pitchFamily="34" charset="0"/>
              </a:rPr>
              <a:t>integrated into the information network</a:t>
            </a:r>
            <a:r>
              <a:rPr lang="en-US" sz="3200">
                <a:latin typeface="Gill Sans MT" pitchFamily="34" charset="0"/>
              </a:rPr>
              <a:t>, often communicate data associated with users and their environments.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203200" y="-15796"/>
            <a:ext cx="11988800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US" sz="4267">
                <a:latin typeface="Gill Sans MT" pitchFamily="34" charset="0"/>
              </a:rPr>
              <a:t>Definition and Characteristics of </a:t>
            </a:r>
            <a:r>
              <a:rPr lang="en-US" sz="4267" err="1">
                <a:latin typeface="Gill Sans MT" pitchFamily="34" charset="0"/>
              </a:rPr>
              <a:t>IoT</a:t>
            </a:r>
            <a:r>
              <a:rPr lang="en-US" sz="4267">
                <a:latin typeface="Gill Sans MT" pitchFamily="34" charset="0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5FB354-5664-6BD9-19C6-BD2483AC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9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1092200"/>
            <a:ext cx="80264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Dynamic and Self adapting (Surveillance Camera)</a:t>
            </a: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Self Configuring (Weather Monitoring)</a:t>
            </a: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Interoperable Communication Protocols</a:t>
            </a: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Unique Identity (IP or URI)</a:t>
            </a: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Integrated in to Information Network. (Weather Monitoring)</a:t>
            </a: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endParaRPr lang="en-US" sz="3200">
              <a:latin typeface="Gill Sans MT" pitchFamily="34" charset="0"/>
              <a:cs typeface="Times New Roman" pitchFamily="18" charset="0"/>
            </a:endParaRPr>
          </a:p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US" sz="4267" dirty="0">
                <a:latin typeface="Gill Sans MT" pitchFamily="34" charset="0"/>
              </a:rPr>
              <a:t>Definition and Characteristics of IoT </a:t>
            </a:r>
          </a:p>
        </p:txBody>
      </p:sp>
      <p:pic>
        <p:nvPicPr>
          <p:cNvPr id="1026" name="Picture 2" descr="E:\Ramesh\VNR VJIET\Course Work 20-21\Teaching\IOT CSE\Pictures\MI Camera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6" t="11518" r="23731" b="11598"/>
          <a:stretch/>
        </p:blipFill>
        <p:spPr bwMode="auto">
          <a:xfrm>
            <a:off x="8636000" y="1039096"/>
            <a:ext cx="1166752" cy="1373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6453C3-92AA-99FF-CB73-DF0B6598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3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9058" y="1489867"/>
            <a:ext cx="48187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I/O Interface for sensors</a:t>
            </a: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Interfaces for Internet Connectivity</a:t>
            </a: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Memory and Storage interfaces</a:t>
            </a: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Audio/Video Interfaces</a:t>
            </a:r>
          </a:p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267">
                <a:latin typeface="Gill Sans MT" pitchFamily="34" charset="0"/>
              </a:rPr>
              <a:t>II. Physical Design of </a:t>
            </a:r>
            <a:r>
              <a:rPr lang="en-US" sz="4267" err="1">
                <a:latin typeface="Gill Sans MT" pitchFamily="34" charset="0"/>
              </a:rPr>
              <a:t>IoT</a:t>
            </a:r>
            <a:r>
              <a:rPr lang="en-US" sz="4267">
                <a:latin typeface="Gill Sans MT" pitchFamily="34" charset="0"/>
              </a:rPr>
              <a:t> 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265" y="1600199"/>
            <a:ext cx="6744768" cy="426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FA5E234-0384-415E-77FE-0F2F76007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3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945814"/>
            <a:ext cx="1177925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 IoT devices collect various sensor data from on board or attached sensors – (Temperature, Humidity and Light Intensity).</a:t>
            </a:r>
          </a:p>
          <a:p>
            <a:pPr marL="380990" indent="-38099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Sensed data is sent to the other devices or cloud-based storage server/storage.</a:t>
            </a:r>
          </a:p>
          <a:p>
            <a:pPr marL="380990" indent="-38099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IoT Devices can be connected to actuators that allow them to interact with other physical entities in the vicinity of device. </a:t>
            </a:r>
          </a:p>
          <a:p>
            <a:pPr marL="380990" indent="-38099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Relay connected to device can turn on/off based on commands sent to the IoT device over internet. </a:t>
            </a:r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267">
                <a:latin typeface="Gill Sans MT" pitchFamily="34" charset="0"/>
              </a:rPr>
              <a:t>II. Physical Design of IoT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851652-7041-00FD-41F9-0B36C5A75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267">
                <a:latin typeface="Gill Sans MT" pitchFamily="34" charset="0"/>
              </a:rPr>
              <a:t>II. Physical Design of IoT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056" y="990600"/>
            <a:ext cx="6087944" cy="5602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03200" y="787400"/>
            <a:ext cx="5892800" cy="5878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Link layer </a:t>
            </a:r>
          </a:p>
          <a:p>
            <a:pPr marL="990575" lvl="1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133"/>
              <a:t>802.3, 802.11, 802.16,802.15.4, 2G/3G/4G</a:t>
            </a: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Network Layer</a:t>
            </a:r>
          </a:p>
          <a:p>
            <a:pPr marL="990575" lvl="1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133"/>
              <a:t>IPV6, IPV4, 6LoWPAN</a:t>
            </a: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Transport Layer</a:t>
            </a:r>
          </a:p>
          <a:p>
            <a:pPr marL="990575" lvl="1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133"/>
              <a:t>TCP, UDP</a:t>
            </a: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latin typeface="Gill Sans MT" pitchFamily="34" charset="0"/>
                <a:cs typeface="Times New Roman" pitchFamily="18" charset="0"/>
              </a:rPr>
              <a:t>Application Layer </a:t>
            </a:r>
          </a:p>
          <a:p>
            <a:pPr marL="990575" lvl="1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133"/>
              <a:t>HTTP, CoAP, </a:t>
            </a:r>
            <a:r>
              <a:rPr lang="en-US" sz="2133" err="1"/>
              <a:t>WebSockets</a:t>
            </a:r>
            <a:r>
              <a:rPr lang="en-US" sz="2133"/>
              <a:t>, MQTT, XMPP, DDS, AMQP.</a:t>
            </a:r>
          </a:p>
          <a:p>
            <a:endParaRPr lang="en-US" sz="2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8604E1-BF06-058B-767D-25641F82B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4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267">
                <a:latin typeface="Gill Sans MT" pitchFamily="34" charset="0"/>
              </a:rPr>
              <a:t>II. Physical Design of IoT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70999" y="945814"/>
            <a:ext cx="12356649" cy="519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>
                <a:solidFill>
                  <a:srgbClr val="7030A0"/>
                </a:solidFill>
                <a:latin typeface="Gill Sans MT" pitchFamily="34" charset="0"/>
                <a:cs typeface="Times New Roman" pitchFamily="18" charset="0"/>
              </a:rPr>
              <a:t> Data Link layer </a:t>
            </a:r>
          </a:p>
          <a:p>
            <a:pPr marL="990575" lvl="1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These protocols determine how the data is physically sent over the N/W or Medium (Copper Cable, Coaxial Cable and Radio Waves )</a:t>
            </a:r>
          </a:p>
          <a:p>
            <a:pPr marL="990575" lvl="1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Scope is limited to Local Network </a:t>
            </a:r>
          </a:p>
          <a:p>
            <a:pPr marL="990575" lvl="1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Determines how the packet are coded and signaled by the hardware device over medium. </a:t>
            </a:r>
          </a:p>
          <a:p>
            <a:pPr marL="990575" lvl="1" indent="-38099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IEEE 802.3 (Wired Ethernet Standard)</a:t>
            </a:r>
          </a:p>
          <a:p>
            <a:pPr marL="609585" lvl="1">
              <a:lnSpc>
                <a:spcPct val="150000"/>
              </a:lnSpc>
            </a:pPr>
            <a:r>
              <a:rPr lang="en-US" sz="2400">
                <a:latin typeface="Gill Sans MT" panose="020B0502020104020203" pitchFamily="34" charset="0"/>
              </a:rPr>
              <a:t>10 BASE5:- Coaxial cable as a shared medium, </a:t>
            </a:r>
          </a:p>
          <a:p>
            <a:pPr marL="609585" lvl="1">
              <a:lnSpc>
                <a:spcPct val="150000"/>
              </a:lnSpc>
            </a:pPr>
            <a:r>
              <a:rPr lang="en-US" sz="2400">
                <a:latin typeface="Gill Sans MT" panose="020B0502020104020203" pitchFamily="34" charset="0"/>
              </a:rPr>
              <a:t>10 BASE-T(802.3.i) :- Ethernet over copper twisted pair connections</a:t>
            </a:r>
          </a:p>
          <a:p>
            <a:pPr marL="609585" lvl="1">
              <a:lnSpc>
                <a:spcPct val="150000"/>
              </a:lnSpc>
            </a:pPr>
            <a:r>
              <a:rPr lang="en-US" sz="2400">
                <a:latin typeface="Gill Sans MT" panose="020B0502020104020203" pitchFamily="34" charset="0"/>
              </a:rPr>
              <a:t>10 BASE-F (802.3.j) :- Ethernet over Fiber Optic Connection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816B49-171F-41CC-9711-D8819C7112BB}"/>
              </a:ext>
            </a:extLst>
          </p:cNvPr>
          <p:cNvSpPr txBox="1"/>
          <p:nvPr/>
        </p:nvSpPr>
        <p:spPr>
          <a:xfrm>
            <a:off x="1251857" y="6270023"/>
            <a:ext cx="10940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7030A0"/>
                </a:solidFill>
                <a:latin typeface="Gill Sans MT" panose="020B0502020104020203" pitchFamily="34" charset="0"/>
              </a:rPr>
              <a:t>Data Rates: 10 Mb/sec to 40 Mb/sec  --- Data is sent by one and received to all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B81C19-3F94-950E-D476-F38EDB54E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267">
                <a:latin typeface="Gill Sans MT" pitchFamily="34" charset="0"/>
              </a:rPr>
              <a:t>III. Logical Design of IoT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578456"/>
            <a:ext cx="7493000" cy="467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21485B3-B3F0-B46C-73A3-27E4862A4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0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267">
                <a:latin typeface="Gill Sans MT" pitchFamily="34" charset="0"/>
              </a:rPr>
              <a:t>III. Logical Design of IoT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4584B-19FA-4CF9-B3A4-B17CDEC1F354}"/>
              </a:ext>
            </a:extLst>
          </p:cNvPr>
          <p:cNvSpPr txBox="1"/>
          <p:nvPr/>
        </p:nvSpPr>
        <p:spPr>
          <a:xfrm>
            <a:off x="508000" y="1186392"/>
            <a:ext cx="8376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>
                <a:latin typeface="Gill Sans MT" panose="020B0502020104020203" pitchFamily="34" charset="0"/>
              </a:rPr>
              <a:t>Functional blocks of an IoT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>
                <a:latin typeface="Gill Sans MT" panose="020B0502020104020203" pitchFamily="34" charset="0"/>
              </a:rPr>
              <a:t>Communication API’s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D482AB8F-449C-4E11-B513-A53CC1836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985" y="2971496"/>
            <a:ext cx="5313144" cy="3315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87E6F6-C32F-4DC5-BDD4-3D2044BC841C}"/>
              </a:ext>
            </a:extLst>
          </p:cNvPr>
          <p:cNvSpPr txBox="1"/>
          <p:nvPr/>
        </p:nvSpPr>
        <p:spPr>
          <a:xfrm>
            <a:off x="407308" y="2237176"/>
            <a:ext cx="11887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Gill Sans MT" panose="020B0502020104020203" pitchFamily="34" charset="0"/>
              </a:rPr>
              <a:t>Provide the system the capabilities for identification, sensing, actuation, 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466271" y="3287959"/>
            <a:ext cx="4147458" cy="3351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Dev</a:t>
            </a:r>
            <a:r>
              <a:rPr lang="en-US" sz="2400" u="sng">
                <a:latin typeface="Gill Sans MT" panose="020B0502020104020203" pitchFamily="34" charset="0"/>
              </a:rPr>
              <a:t>i</a:t>
            </a:r>
            <a:r>
              <a:rPr lang="en-US" sz="2400">
                <a:latin typeface="Gill Sans MT" panose="020B0502020104020203" pitchFamily="34" charset="0"/>
              </a:rPr>
              <a:t>ce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Communication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Services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Management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Security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Application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E109A3-D66C-4261-E04B-F1E0F7728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8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267">
                <a:latin typeface="Gill Sans MT" pitchFamily="34" charset="0"/>
              </a:rPr>
              <a:t>III. Logical Design of IoT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4584B-19FA-4CF9-B3A4-B17CDEC1F354}"/>
              </a:ext>
            </a:extLst>
          </p:cNvPr>
          <p:cNvSpPr txBox="1"/>
          <p:nvPr/>
        </p:nvSpPr>
        <p:spPr>
          <a:xfrm>
            <a:off x="304800" y="945814"/>
            <a:ext cx="10791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Gill Sans MT" panose="020B0502020104020203" pitchFamily="34" charset="0"/>
              </a:rPr>
              <a:t>Functional blocks of an IoT &amp; Communication API’s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304800" y="1653992"/>
            <a:ext cx="11732986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Device:-  IoT system comprises of device provide sensing, actuation, monitoring and control function.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Communication:- This Block handles communication for IoT system. (IPV6, IPV4, MQTT, AMQP, TCP and UDP)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Services:- Service for device monitoring, device control services, data publishing service and services for device discovery.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Management :- It provides various functions to govern the IoT System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Security:- It Securer's IoT system by providing functions such as authentication, authorization, message and content integrity and data security.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 Application:- Provide an Interface that the user can use to control and monitor various aspects of IoT system. -.-- View the device, System status and analyze the processed data.  </a:t>
            </a:r>
          </a:p>
          <a:p>
            <a:endParaRPr lang="en-US" sz="2400">
              <a:latin typeface="Gill Sans MT" panose="020B05020201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08C48A-3123-EC51-AA62-823FA15DA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6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267">
                <a:latin typeface="Gill Sans MT" pitchFamily="34" charset="0"/>
              </a:rPr>
              <a:t>III. Logical Design of IoT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4584B-19FA-4CF9-B3A4-B17CDEC1F354}"/>
              </a:ext>
            </a:extLst>
          </p:cNvPr>
          <p:cNvSpPr txBox="1"/>
          <p:nvPr/>
        </p:nvSpPr>
        <p:spPr>
          <a:xfrm>
            <a:off x="304801" y="945814"/>
            <a:ext cx="50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Gill Sans MT" panose="020B0502020104020203" pitchFamily="34" charset="0"/>
              </a:rPr>
              <a:t>IoT Communication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423636" y="1637456"/>
            <a:ext cx="1173298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400" b="1">
                <a:solidFill>
                  <a:srgbClr val="00B0F0"/>
                </a:solidFill>
                <a:latin typeface="Gill Sans MT" panose="020B0502020104020203" pitchFamily="34" charset="0"/>
              </a:rPr>
              <a:t>Request Response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400" b="1">
                <a:solidFill>
                  <a:srgbClr val="C00000"/>
                </a:solidFill>
                <a:latin typeface="Gill Sans MT" panose="020B0502020104020203" pitchFamily="34" charset="0"/>
              </a:rPr>
              <a:t>Publish Subscribe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400" b="1">
                <a:solidFill>
                  <a:srgbClr val="7030A0"/>
                </a:solidFill>
                <a:latin typeface="Gill Sans MT" panose="020B0502020104020203" pitchFamily="34" charset="0"/>
              </a:rPr>
              <a:t>Push – Pull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400" b="1">
                <a:solidFill>
                  <a:srgbClr val="FF0000"/>
                </a:solidFill>
                <a:latin typeface="Gill Sans MT" panose="020B0502020104020203" pitchFamily="34" charset="0"/>
              </a:rPr>
              <a:t>Exclusive Pair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>
              <a:latin typeface="Gill Sans MT" panose="020B05020201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58C05A-8C43-A1F6-84CB-4501209ED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7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9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267">
                <a:latin typeface="Gill Sans MT" pitchFamily="34" charset="0"/>
              </a:rPr>
              <a:t>III. Logical Design of IoT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4584B-19FA-4CF9-B3A4-B17CDEC1F354}"/>
              </a:ext>
            </a:extLst>
          </p:cNvPr>
          <p:cNvSpPr txBox="1"/>
          <p:nvPr/>
        </p:nvSpPr>
        <p:spPr>
          <a:xfrm>
            <a:off x="304801" y="945814"/>
            <a:ext cx="50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Gill Sans MT" panose="020B0502020104020203" pitchFamily="34" charset="0"/>
              </a:rPr>
              <a:t>IoT Communication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229507" y="1384757"/>
            <a:ext cx="1173298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800">
                <a:solidFill>
                  <a:srgbClr val="00B0F0"/>
                </a:solidFill>
                <a:latin typeface="Gill Sans MT" panose="020B0502020104020203" pitchFamily="34" charset="0"/>
              </a:rPr>
              <a:t>Request Response Communication Model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>
              <a:latin typeface="Gill Sans MT" panose="020B05020201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0C1064-16AB-4904-ADCD-57FDE622829D}"/>
              </a:ext>
            </a:extLst>
          </p:cNvPr>
          <p:cNvSpPr txBox="1"/>
          <p:nvPr/>
        </p:nvSpPr>
        <p:spPr>
          <a:xfrm>
            <a:off x="508000" y="2039145"/>
            <a:ext cx="1188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Gill Sans MT" panose="020B0502020104020203" pitchFamily="34" charset="0"/>
              </a:rPr>
              <a:t>Client sends request to the server and server responds to the request.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B6D0A2-C231-45CA-B4B9-3E086D5B9FBD}"/>
              </a:ext>
            </a:extLst>
          </p:cNvPr>
          <p:cNvSpPr/>
          <p:nvPr/>
        </p:nvSpPr>
        <p:spPr>
          <a:xfrm>
            <a:off x="4822143" y="2655511"/>
            <a:ext cx="3258913" cy="3660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Gill Sans MT" panose="020B0502020104020203" pitchFamily="34" charset="0"/>
              </a:rPr>
              <a:t>Receives request from client, </a:t>
            </a:r>
          </a:p>
          <a:p>
            <a:pPr algn="ctr"/>
            <a:r>
              <a:rPr lang="en-US" sz="2800">
                <a:latin typeface="Gill Sans MT" panose="020B0502020104020203" pitchFamily="34" charset="0"/>
              </a:rPr>
              <a:t>process request</a:t>
            </a:r>
          </a:p>
          <a:p>
            <a:pPr algn="ctr"/>
            <a:r>
              <a:rPr lang="en-US" sz="2800">
                <a:latin typeface="Gill Sans MT" panose="020B0502020104020203" pitchFamily="34" charset="0"/>
              </a:rPr>
              <a:t> fetches resources, prepares response and sends response to client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0A189E-0FCE-48ED-80DC-EFEB9A85775D}"/>
              </a:ext>
            </a:extLst>
          </p:cNvPr>
          <p:cNvSpPr/>
          <p:nvPr/>
        </p:nvSpPr>
        <p:spPr>
          <a:xfrm>
            <a:off x="940706" y="3041500"/>
            <a:ext cx="2171700" cy="315141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Gill Sans MT" panose="020B0502020104020203" pitchFamily="34" charset="0"/>
              </a:rPr>
              <a:t>Sends request to server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2D1FC5-4BF1-4A36-8DAE-CEDA5EC99CA1}"/>
              </a:ext>
            </a:extLst>
          </p:cNvPr>
          <p:cNvSpPr/>
          <p:nvPr/>
        </p:nvSpPr>
        <p:spPr>
          <a:xfrm>
            <a:off x="9790793" y="2910178"/>
            <a:ext cx="2171700" cy="315141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Gill Sans MT" panose="020B0502020104020203" pitchFamily="34" charset="0"/>
              </a:rPr>
              <a:t>Resources</a:t>
            </a:r>
            <a:r>
              <a:rPr lang="en-US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F9A7D-674E-40D7-A7AD-C824CC0C95F5}"/>
              </a:ext>
            </a:extLst>
          </p:cNvPr>
          <p:cNvSpPr txBox="1"/>
          <p:nvPr/>
        </p:nvSpPr>
        <p:spPr>
          <a:xfrm>
            <a:off x="1505858" y="6325129"/>
            <a:ext cx="267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Gill Sans MT" panose="020B0502020104020203" pitchFamily="34" charset="0"/>
              </a:rPr>
              <a:t>Client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31DB42-1C27-4DD0-B90C-24EC2EB493D9}"/>
              </a:ext>
            </a:extLst>
          </p:cNvPr>
          <p:cNvSpPr txBox="1"/>
          <p:nvPr/>
        </p:nvSpPr>
        <p:spPr>
          <a:xfrm>
            <a:off x="5949043" y="6325129"/>
            <a:ext cx="156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Gill Sans MT" panose="020B0502020104020203" pitchFamily="34" charset="0"/>
              </a:rPr>
              <a:t>Server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25ACE9-BCD0-4016-8376-F8A02CBCA202}"/>
              </a:ext>
            </a:extLst>
          </p:cNvPr>
          <p:cNvCxnSpPr/>
          <p:nvPr/>
        </p:nvCxnSpPr>
        <p:spPr>
          <a:xfrm>
            <a:off x="3112406" y="3788229"/>
            <a:ext cx="1709737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995173A-3457-46AE-A9A6-CF0DD188618F}"/>
              </a:ext>
            </a:extLst>
          </p:cNvPr>
          <p:cNvCxnSpPr>
            <a:cxnSpLocks/>
          </p:cNvCxnSpPr>
          <p:nvPr/>
        </p:nvCxnSpPr>
        <p:spPr>
          <a:xfrm flipH="1">
            <a:off x="3112406" y="5361215"/>
            <a:ext cx="17097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E614C2B-5CAA-4675-8EFD-C1106F423F57}"/>
              </a:ext>
            </a:extLst>
          </p:cNvPr>
          <p:cNvSpPr txBox="1"/>
          <p:nvPr/>
        </p:nvSpPr>
        <p:spPr>
          <a:xfrm>
            <a:off x="3483200" y="3278307"/>
            <a:ext cx="267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Request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4B2BA8-E74C-404F-8E7E-76979955BED0}"/>
              </a:ext>
            </a:extLst>
          </p:cNvPr>
          <p:cNvSpPr txBox="1"/>
          <p:nvPr/>
        </p:nvSpPr>
        <p:spPr>
          <a:xfrm>
            <a:off x="3483200" y="4833442"/>
            <a:ext cx="267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Response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48BF64-FBE6-431E-83C9-41FB815EDBB5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>
            <a:off x="8081056" y="4485885"/>
            <a:ext cx="170973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1132BF8-CD62-0037-8C66-878031876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28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Communication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304800" y="796972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chemeClr val="accent1"/>
                </a:solidFill>
                <a:latin typeface="Gill Sans MT" panose="020B0502020104020203" pitchFamily="34" charset="0"/>
              </a:rPr>
              <a:t>Publish Subscribe Communication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0C1064-16AB-4904-ADCD-57FDE622829D}"/>
              </a:ext>
            </a:extLst>
          </p:cNvPr>
          <p:cNvSpPr txBox="1"/>
          <p:nvPr/>
        </p:nvSpPr>
        <p:spPr>
          <a:xfrm>
            <a:off x="304800" y="1379473"/>
            <a:ext cx="1188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  <a:latin typeface="Gill Sans MT" panose="020B0502020104020203" pitchFamily="34" charset="0"/>
              </a:rPr>
              <a:t>Consumer</a:t>
            </a:r>
            <a:r>
              <a:rPr lang="en-US" sz="2800">
                <a:latin typeface="Gill Sans MT" panose="020B0502020104020203" pitchFamily="34" charset="0"/>
              </a:rPr>
              <a:t>:- Subscribe to the topics which are managed by </a:t>
            </a:r>
            <a:r>
              <a:rPr lang="en-US" sz="2800" b="1">
                <a:solidFill>
                  <a:srgbClr val="FF0000"/>
                </a:solidFill>
                <a:latin typeface="Gill Sans MT" panose="020B0502020104020203" pitchFamily="34" charset="0"/>
              </a:rPr>
              <a:t>Broker’s.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B6D0A2-C231-45CA-B4B9-3E086D5B9FBD}"/>
              </a:ext>
            </a:extLst>
          </p:cNvPr>
          <p:cNvSpPr/>
          <p:nvPr/>
        </p:nvSpPr>
        <p:spPr>
          <a:xfrm>
            <a:off x="4822143" y="2653121"/>
            <a:ext cx="3258913" cy="36607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>
              <a:latin typeface="Gill Sans MT" panose="020B05020201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0A189E-0FCE-48ED-80DC-EFEB9A85775D}"/>
              </a:ext>
            </a:extLst>
          </p:cNvPr>
          <p:cNvSpPr/>
          <p:nvPr/>
        </p:nvSpPr>
        <p:spPr>
          <a:xfrm>
            <a:off x="940706" y="3041500"/>
            <a:ext cx="2171700" cy="315141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Gill Sans MT" panose="020B0502020104020203" pitchFamily="34" charset="0"/>
              </a:rPr>
              <a:t>Sends Message to Topics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F9A7D-674E-40D7-A7AD-C824CC0C95F5}"/>
              </a:ext>
            </a:extLst>
          </p:cNvPr>
          <p:cNvSpPr txBox="1"/>
          <p:nvPr/>
        </p:nvSpPr>
        <p:spPr>
          <a:xfrm>
            <a:off x="1505858" y="6325129"/>
            <a:ext cx="267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Gill Sans MT" panose="020B0502020104020203" pitchFamily="34" charset="0"/>
              </a:rPr>
              <a:t>Client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E10B97-8D41-41E3-9428-89E0C98CE952}"/>
              </a:ext>
            </a:extLst>
          </p:cNvPr>
          <p:cNvSpPr txBox="1"/>
          <p:nvPr/>
        </p:nvSpPr>
        <p:spPr>
          <a:xfrm>
            <a:off x="5930899" y="2699661"/>
            <a:ext cx="1598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Gill Sans MT" panose="020B0502020104020203" pitchFamily="34" charset="0"/>
              </a:rPr>
              <a:t>Broker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BBF39C-5160-42D2-8D2F-BC9CC670EF8C}"/>
              </a:ext>
            </a:extLst>
          </p:cNvPr>
          <p:cNvSpPr/>
          <p:nvPr/>
        </p:nvSpPr>
        <p:spPr>
          <a:xfrm>
            <a:off x="5305649" y="3453214"/>
            <a:ext cx="2450422" cy="11841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Gill Sans MT" panose="020B0502020104020203" pitchFamily="34" charset="0"/>
              </a:rPr>
              <a:t>Topic – 1  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Gill Sans MT" panose="020B0502020104020203" pitchFamily="34" charset="0"/>
              </a:rPr>
              <a:t>Subscribers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Gill Sans MT" panose="020B0502020104020203" pitchFamily="34" charset="0"/>
              </a:rPr>
              <a:t>Consumer -1 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Gill Sans MT" panose="020B0502020104020203" pitchFamily="34" charset="0"/>
              </a:rPr>
              <a:t>Consumer -2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ACDB6B-D3CF-4116-B6CA-428FF58507DF}"/>
              </a:ext>
            </a:extLst>
          </p:cNvPr>
          <p:cNvSpPr/>
          <p:nvPr/>
        </p:nvSpPr>
        <p:spPr>
          <a:xfrm>
            <a:off x="5309955" y="4929202"/>
            <a:ext cx="2450422" cy="1184100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Gill Sans MT" panose="020B0502020104020203" pitchFamily="34" charset="0"/>
              </a:rPr>
              <a:t>Topic – 2  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Gill Sans MT" panose="020B0502020104020203" pitchFamily="34" charset="0"/>
              </a:rPr>
              <a:t>Subscribers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Gill Sans MT" panose="020B0502020104020203" pitchFamily="34" charset="0"/>
              </a:rPr>
              <a:t>Consumer -1 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Gill Sans MT" panose="020B0502020104020203" pitchFamily="34" charset="0"/>
              </a:rPr>
              <a:t>Consumer -2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7F1BB7-BAA7-4104-AEEE-47F7F3C86F22}"/>
              </a:ext>
            </a:extLst>
          </p:cNvPr>
          <p:cNvSpPr txBox="1"/>
          <p:nvPr/>
        </p:nvSpPr>
        <p:spPr>
          <a:xfrm>
            <a:off x="1395186" y="3194031"/>
            <a:ext cx="1598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chemeClr val="bg1"/>
                </a:solidFill>
                <a:latin typeface="Gill Sans MT" panose="020B0502020104020203" pitchFamily="34" charset="0"/>
              </a:rPr>
              <a:t>Pubisher</a:t>
            </a:r>
            <a:r>
              <a:rPr lang="en-US" sz="2400" b="1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57099E-1741-4F4A-A49F-2B62406E17C0}"/>
              </a:ext>
            </a:extLst>
          </p:cNvPr>
          <p:cNvSpPr/>
          <p:nvPr/>
        </p:nvSpPr>
        <p:spPr>
          <a:xfrm>
            <a:off x="9790793" y="2930493"/>
            <a:ext cx="1833563" cy="5227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Gill Sans MT" panose="020B0502020104020203" pitchFamily="34" charset="0"/>
              </a:rPr>
              <a:t>Consumer – 1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5A5321-5D95-4225-8FA7-69D6CD17D292}"/>
              </a:ext>
            </a:extLst>
          </p:cNvPr>
          <p:cNvSpPr/>
          <p:nvPr/>
        </p:nvSpPr>
        <p:spPr>
          <a:xfrm>
            <a:off x="9790791" y="4262626"/>
            <a:ext cx="1769835" cy="5227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Gill Sans MT" panose="020B0502020104020203" pitchFamily="34" charset="0"/>
              </a:rPr>
              <a:t>Consumer – 2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CA8455-A81B-472F-B4E4-A368C868E760}"/>
              </a:ext>
            </a:extLst>
          </p:cNvPr>
          <p:cNvSpPr/>
          <p:nvPr/>
        </p:nvSpPr>
        <p:spPr>
          <a:xfrm>
            <a:off x="9790791" y="5594760"/>
            <a:ext cx="1769835" cy="5227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Gill Sans MT" panose="020B0502020104020203" pitchFamily="34" charset="0"/>
              </a:rPr>
              <a:t>Consumer – 3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260DE6-BA78-41DF-8A91-1127E993E84C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 flipV="1">
            <a:off x="7756071" y="3191854"/>
            <a:ext cx="2034722" cy="853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37B95B-7C78-463A-BB0F-D0F2AABB66B2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>
            <a:off x="7756071" y="4045264"/>
            <a:ext cx="2034720" cy="478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5DDC08-BC22-4E2B-BDA7-A20881E3D553}"/>
              </a:ext>
            </a:extLst>
          </p:cNvPr>
          <p:cNvCxnSpPr>
            <a:cxnSpLocks/>
          </p:cNvCxnSpPr>
          <p:nvPr/>
        </p:nvCxnSpPr>
        <p:spPr>
          <a:xfrm>
            <a:off x="7756071" y="5437407"/>
            <a:ext cx="2034720" cy="478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D3BB82E-F669-475F-AB62-7CA6706EC883}"/>
              </a:ext>
            </a:extLst>
          </p:cNvPr>
          <p:cNvSpPr txBox="1"/>
          <p:nvPr/>
        </p:nvSpPr>
        <p:spPr>
          <a:xfrm>
            <a:off x="304801" y="1861737"/>
            <a:ext cx="11880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C00000"/>
                </a:solidFill>
                <a:latin typeface="Gill Sans MT" panose="020B0502020104020203" pitchFamily="34" charset="0"/>
              </a:rPr>
              <a:t>Broker</a:t>
            </a:r>
            <a:r>
              <a:rPr lang="en-US" sz="2800">
                <a:latin typeface="Gill Sans MT" panose="020B0502020104020203" pitchFamily="34" charset="0"/>
              </a:rPr>
              <a:t>:-Receives data from Topic from Publishers, Sends data to all the subscribed consumers.</a:t>
            </a:r>
            <a:endParaRPr lang="en-US" sz="2800" b="1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10DE0-2C26-12A7-B58D-432752A83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2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Communication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203200" y="778755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rgbClr val="00B050"/>
                </a:solidFill>
                <a:latin typeface="Gill Sans MT" panose="020B0502020104020203" pitchFamily="34" charset="0"/>
              </a:rPr>
              <a:t>Push - Pull Communication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0C1064-16AB-4904-ADCD-57FDE622829D}"/>
              </a:ext>
            </a:extLst>
          </p:cNvPr>
          <p:cNvSpPr txBox="1"/>
          <p:nvPr/>
        </p:nvSpPr>
        <p:spPr>
          <a:xfrm>
            <a:off x="298451" y="1117827"/>
            <a:ext cx="11887200" cy="581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latin typeface="Gill Sans MT" panose="020B0502020104020203" pitchFamily="34" charset="0"/>
              </a:rPr>
              <a:t>Data </a:t>
            </a: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producers</a:t>
            </a:r>
            <a:r>
              <a:rPr lang="en-US" sz="2400">
                <a:latin typeface="Gill Sans MT" panose="020B0502020104020203" pitchFamily="34" charset="0"/>
              </a:rPr>
              <a:t> push the data to the </a:t>
            </a: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Queue’s.  </a:t>
            </a:r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Consumers</a:t>
            </a:r>
            <a:r>
              <a:rPr lang="en-US" sz="2400">
                <a:latin typeface="Gill Sans MT" panose="020B0502020104020203" pitchFamily="34" charset="0"/>
              </a:rPr>
              <a:t> pull the data from </a:t>
            </a: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Queue’s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0A189E-0FCE-48ED-80DC-EFEB9A85775D}"/>
              </a:ext>
            </a:extLst>
          </p:cNvPr>
          <p:cNvSpPr/>
          <p:nvPr/>
        </p:nvSpPr>
        <p:spPr>
          <a:xfrm>
            <a:off x="689881" y="3565043"/>
            <a:ext cx="2171700" cy="315141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Gill Sans MT" panose="020B0502020104020203" pitchFamily="34" charset="0"/>
              </a:rPr>
              <a:t>Sends Message to Queue.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F9A7D-674E-40D7-A7AD-C824CC0C95F5}"/>
              </a:ext>
            </a:extLst>
          </p:cNvPr>
          <p:cNvSpPr txBox="1"/>
          <p:nvPr/>
        </p:nvSpPr>
        <p:spPr>
          <a:xfrm>
            <a:off x="5384800" y="3849351"/>
            <a:ext cx="267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Gill Sans MT" panose="020B0502020104020203" pitchFamily="34" charset="0"/>
              </a:rPr>
              <a:t>Queue’s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7F1BB7-BAA7-4104-AEEE-47F7F3C86F22}"/>
              </a:ext>
            </a:extLst>
          </p:cNvPr>
          <p:cNvSpPr txBox="1"/>
          <p:nvPr/>
        </p:nvSpPr>
        <p:spPr>
          <a:xfrm>
            <a:off x="929821" y="3721959"/>
            <a:ext cx="1598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>
                <a:solidFill>
                  <a:schemeClr val="bg1"/>
                </a:solidFill>
                <a:latin typeface="Gill Sans MT" panose="020B0502020104020203" pitchFamily="34" charset="0"/>
              </a:rPr>
              <a:t>Pubisher</a:t>
            </a:r>
            <a:r>
              <a:rPr lang="en-US" sz="2400" b="1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57099E-1741-4F4A-A49F-2B62406E17C0}"/>
              </a:ext>
            </a:extLst>
          </p:cNvPr>
          <p:cNvSpPr/>
          <p:nvPr/>
        </p:nvSpPr>
        <p:spPr>
          <a:xfrm>
            <a:off x="9325428" y="4352748"/>
            <a:ext cx="1833563" cy="5227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Gill Sans MT" panose="020B0502020104020203" pitchFamily="34" charset="0"/>
              </a:rPr>
              <a:t>Consumer – 1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5A5321-5D95-4225-8FA7-69D6CD17D292}"/>
              </a:ext>
            </a:extLst>
          </p:cNvPr>
          <p:cNvSpPr/>
          <p:nvPr/>
        </p:nvSpPr>
        <p:spPr>
          <a:xfrm>
            <a:off x="9325428" y="5745380"/>
            <a:ext cx="1769835" cy="5227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Gill Sans MT" panose="020B0502020104020203" pitchFamily="34" charset="0"/>
              </a:rPr>
              <a:t>Consumer – 2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65715-81A2-4573-AF89-7B79E07DDF18}"/>
              </a:ext>
            </a:extLst>
          </p:cNvPr>
          <p:cNvSpPr txBox="1"/>
          <p:nvPr/>
        </p:nvSpPr>
        <p:spPr>
          <a:xfrm>
            <a:off x="311149" y="1580216"/>
            <a:ext cx="1188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Producers</a:t>
            </a:r>
            <a:r>
              <a:rPr lang="en-US" sz="2400">
                <a:latin typeface="Gill Sans MT" panose="020B0502020104020203" pitchFamily="34" charset="0"/>
              </a:rPr>
              <a:t> do no need to be aware of </a:t>
            </a: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consumer.</a:t>
            </a: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Queues</a:t>
            </a:r>
            <a:r>
              <a:rPr lang="en-US" sz="2400">
                <a:latin typeface="Gill Sans MT" panose="020B0502020104020203" pitchFamily="34" charset="0"/>
              </a:rPr>
              <a:t> help in decoupling the message between </a:t>
            </a: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producers</a:t>
            </a:r>
            <a:r>
              <a:rPr lang="en-US" sz="2400">
                <a:latin typeface="Gill Sans MT" panose="020B0502020104020203" pitchFamily="34" charset="0"/>
              </a:rPr>
              <a:t> and </a:t>
            </a: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consumers</a:t>
            </a:r>
            <a:r>
              <a:rPr lang="en-US" sz="2400">
                <a:latin typeface="Gill Sans MT" panose="020B0502020104020203" pitchFamily="34" charset="0"/>
              </a:rPr>
              <a:t>.</a:t>
            </a:r>
          </a:p>
          <a:p>
            <a:r>
              <a:rPr lang="en-US" sz="2400">
                <a:latin typeface="Gill Sans MT" panose="020B0502020104020203" pitchFamily="34" charset="0"/>
              </a:rPr>
              <a:t>`Queues act as Buffer:- Situation where there is mismatch between rate at which producers push data and rate at which consumers pull the data.  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7417F82-3DC6-4D17-BA24-E03A1E5EA2C0}"/>
              </a:ext>
            </a:extLst>
          </p:cNvPr>
          <p:cNvGraphicFramePr>
            <a:graphicFrameLocks noGrp="1"/>
          </p:cNvGraphicFramePr>
          <p:nvPr/>
        </p:nvGraphicFramePr>
        <p:xfrm>
          <a:off x="3842660" y="4413804"/>
          <a:ext cx="4491718" cy="461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674">
                  <a:extLst>
                    <a:ext uri="{9D8B030D-6E8A-4147-A177-3AD203B41FA5}">
                      <a16:colId xmlns:a16="http://schemas.microsoft.com/office/drawing/2014/main" val="591658354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2825494287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893414111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2535198922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1267354969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1215172295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680559758"/>
                    </a:ext>
                  </a:extLst>
                </a:gridCol>
              </a:tblGrid>
              <a:tr h="46166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680196"/>
                  </a:ext>
                </a:extLst>
              </a:tr>
            </a:tbl>
          </a:graphicData>
        </a:graphic>
      </p:graphicFrame>
      <p:graphicFrame>
        <p:nvGraphicFramePr>
          <p:cNvPr id="33" name="Table 5">
            <a:extLst>
              <a:ext uri="{FF2B5EF4-FFF2-40B4-BE49-F238E27FC236}">
                <a16:creationId xmlns:a16="http://schemas.microsoft.com/office/drawing/2014/main" id="{E4B3AA0C-526E-44E6-93F5-8ADA51DBF7A4}"/>
              </a:ext>
            </a:extLst>
          </p:cNvPr>
          <p:cNvGraphicFramePr>
            <a:graphicFrameLocks noGrp="1"/>
          </p:cNvGraphicFramePr>
          <p:nvPr/>
        </p:nvGraphicFramePr>
        <p:xfrm>
          <a:off x="3842660" y="5806436"/>
          <a:ext cx="4491718" cy="461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674">
                  <a:extLst>
                    <a:ext uri="{9D8B030D-6E8A-4147-A177-3AD203B41FA5}">
                      <a16:colId xmlns:a16="http://schemas.microsoft.com/office/drawing/2014/main" val="591658354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2825494287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893414111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2535198922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1267354969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1215172295"/>
                    </a:ext>
                  </a:extLst>
                </a:gridCol>
                <a:gridCol w="641674">
                  <a:extLst>
                    <a:ext uri="{9D8B030D-6E8A-4147-A177-3AD203B41FA5}">
                      <a16:colId xmlns:a16="http://schemas.microsoft.com/office/drawing/2014/main" val="680559758"/>
                    </a:ext>
                  </a:extLst>
                </a:gridCol>
              </a:tblGrid>
              <a:tr h="46166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680196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3EE2BB-4D79-4C44-87CD-BE684CC0DF31}"/>
              </a:ext>
            </a:extLst>
          </p:cNvPr>
          <p:cNvCxnSpPr>
            <a:endCxn id="26" idx="1"/>
          </p:cNvCxnSpPr>
          <p:nvPr/>
        </p:nvCxnSpPr>
        <p:spPr>
          <a:xfrm>
            <a:off x="8334378" y="4614108"/>
            <a:ext cx="99105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5C288CC-5C5B-49E6-9553-71474DA22C08}"/>
              </a:ext>
            </a:extLst>
          </p:cNvPr>
          <p:cNvCxnSpPr/>
          <p:nvPr/>
        </p:nvCxnSpPr>
        <p:spPr>
          <a:xfrm>
            <a:off x="8334378" y="6037268"/>
            <a:ext cx="99105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3C66242-8CFA-43FF-A987-97905C7D4B74}"/>
              </a:ext>
            </a:extLst>
          </p:cNvPr>
          <p:cNvCxnSpPr/>
          <p:nvPr/>
        </p:nvCxnSpPr>
        <p:spPr>
          <a:xfrm>
            <a:off x="2851609" y="4593917"/>
            <a:ext cx="99105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82720B-7E68-450B-B4B7-603062293D16}"/>
              </a:ext>
            </a:extLst>
          </p:cNvPr>
          <p:cNvCxnSpPr/>
          <p:nvPr/>
        </p:nvCxnSpPr>
        <p:spPr>
          <a:xfrm>
            <a:off x="2851609" y="6041356"/>
            <a:ext cx="99105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CB64721-3D1C-D8AE-EEFA-4BB1F3D3D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7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Communication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203200" y="778755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rgbClr val="00B050"/>
                </a:solidFill>
                <a:latin typeface="Gill Sans MT" panose="020B0502020104020203" pitchFamily="34" charset="0"/>
              </a:rPr>
              <a:t>Exclusive Pair Communication model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65715-81A2-4573-AF89-7B79E07DDF18}"/>
              </a:ext>
            </a:extLst>
          </p:cNvPr>
          <p:cNvSpPr txBox="1"/>
          <p:nvPr/>
        </p:nvSpPr>
        <p:spPr>
          <a:xfrm>
            <a:off x="311149" y="1106958"/>
            <a:ext cx="11887200" cy="2243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Persistent Connection between client and server.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Ones the connection is setup – open until client sends close request.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After connection client and server can send messaged to each other after connection setup.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State full communication model and server is aware of all the open connection.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6A6684-AA0D-4499-8060-5B1AD5BA3A61}"/>
              </a:ext>
            </a:extLst>
          </p:cNvPr>
          <p:cNvSpPr/>
          <p:nvPr/>
        </p:nvSpPr>
        <p:spPr>
          <a:xfrm>
            <a:off x="9413253" y="3478170"/>
            <a:ext cx="2201634" cy="3135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Gill Sans MT" panose="020B0502020104020203" pitchFamily="34" charset="0"/>
              </a:rPr>
              <a:t>Server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C856EC-D37E-4DF9-8227-1A775E2617F4}"/>
              </a:ext>
            </a:extLst>
          </p:cNvPr>
          <p:cNvSpPr/>
          <p:nvPr/>
        </p:nvSpPr>
        <p:spPr>
          <a:xfrm>
            <a:off x="1483746" y="3385986"/>
            <a:ext cx="2171700" cy="315141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Gill Sans MT" panose="020B0502020104020203" pitchFamily="34" charset="0"/>
              </a:rPr>
              <a:t>Client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6E58EC2-BEEA-4C7E-B08C-80C52548DBC9}"/>
              </a:ext>
            </a:extLst>
          </p:cNvPr>
          <p:cNvCxnSpPr>
            <a:cxnSpLocks/>
          </p:cNvCxnSpPr>
          <p:nvPr/>
        </p:nvCxnSpPr>
        <p:spPr>
          <a:xfrm>
            <a:off x="3595575" y="3519208"/>
            <a:ext cx="5757807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802BDE3-6E56-442D-AC66-09005F24A9B0}"/>
              </a:ext>
            </a:extLst>
          </p:cNvPr>
          <p:cNvCxnSpPr>
            <a:cxnSpLocks/>
          </p:cNvCxnSpPr>
          <p:nvPr/>
        </p:nvCxnSpPr>
        <p:spPr>
          <a:xfrm flipH="1">
            <a:off x="3655447" y="3990343"/>
            <a:ext cx="575780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975B060-1266-484F-9F25-8E5C60E9A253}"/>
              </a:ext>
            </a:extLst>
          </p:cNvPr>
          <p:cNvSpPr txBox="1"/>
          <p:nvPr/>
        </p:nvSpPr>
        <p:spPr>
          <a:xfrm>
            <a:off x="3991630" y="3506338"/>
            <a:ext cx="5361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Request setup connection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47D0A5-2661-46A7-BBB3-1063E96C7480}"/>
              </a:ext>
            </a:extLst>
          </p:cNvPr>
          <p:cNvSpPr txBox="1"/>
          <p:nvPr/>
        </p:nvSpPr>
        <p:spPr>
          <a:xfrm>
            <a:off x="4809699" y="4997708"/>
            <a:ext cx="4603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Message from server to client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4684FF-4E78-4AE3-AA6A-292A37DEBE97}"/>
              </a:ext>
            </a:extLst>
          </p:cNvPr>
          <p:cNvSpPr txBox="1"/>
          <p:nvPr/>
        </p:nvSpPr>
        <p:spPr>
          <a:xfrm>
            <a:off x="3933001" y="3979050"/>
            <a:ext cx="536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Response accepting the request 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22B8D5-312D-4883-8E0F-766FEB54E9C7}"/>
              </a:ext>
            </a:extLst>
          </p:cNvPr>
          <p:cNvCxnSpPr>
            <a:cxnSpLocks/>
          </p:cNvCxnSpPr>
          <p:nvPr/>
        </p:nvCxnSpPr>
        <p:spPr>
          <a:xfrm>
            <a:off x="3655446" y="4424233"/>
            <a:ext cx="5757807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96A83E5-B2EF-49A7-B739-94B4E013E018}"/>
              </a:ext>
            </a:extLst>
          </p:cNvPr>
          <p:cNvCxnSpPr>
            <a:cxnSpLocks/>
          </p:cNvCxnSpPr>
          <p:nvPr/>
        </p:nvCxnSpPr>
        <p:spPr>
          <a:xfrm flipH="1">
            <a:off x="3655446" y="4907993"/>
            <a:ext cx="575780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BDFA3A-1C7E-4D71-A2F4-AC85D1D535D4}"/>
              </a:ext>
            </a:extLst>
          </p:cNvPr>
          <p:cNvCxnSpPr>
            <a:cxnSpLocks/>
          </p:cNvCxnSpPr>
          <p:nvPr/>
        </p:nvCxnSpPr>
        <p:spPr>
          <a:xfrm>
            <a:off x="3655446" y="5507378"/>
            <a:ext cx="5757807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72AE73A-CBFD-447B-BE0B-E789DB906525}"/>
              </a:ext>
            </a:extLst>
          </p:cNvPr>
          <p:cNvCxnSpPr>
            <a:cxnSpLocks/>
          </p:cNvCxnSpPr>
          <p:nvPr/>
        </p:nvCxnSpPr>
        <p:spPr>
          <a:xfrm flipH="1">
            <a:off x="3655446" y="6036857"/>
            <a:ext cx="575780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F0047AF-36D6-4A2D-9D60-AB221D160E03}"/>
              </a:ext>
            </a:extLst>
          </p:cNvPr>
          <p:cNvSpPr txBox="1"/>
          <p:nvPr/>
        </p:nvSpPr>
        <p:spPr>
          <a:xfrm>
            <a:off x="5059519" y="5507500"/>
            <a:ext cx="4101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Connection close request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3BAE42-2F84-471C-B841-1A055F331FB1}"/>
              </a:ext>
            </a:extLst>
          </p:cNvPr>
          <p:cNvSpPr txBox="1"/>
          <p:nvPr/>
        </p:nvSpPr>
        <p:spPr>
          <a:xfrm>
            <a:off x="4834392" y="4441435"/>
            <a:ext cx="4603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Message from client to server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415EFB-4410-4F44-8EB6-CAF975AEB562}"/>
              </a:ext>
            </a:extLst>
          </p:cNvPr>
          <p:cNvSpPr txBox="1"/>
          <p:nvPr/>
        </p:nvSpPr>
        <p:spPr>
          <a:xfrm>
            <a:off x="5001954" y="6088093"/>
            <a:ext cx="4284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Connection close response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66483E-01A1-0EC9-EBE3-2D967588B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Enabling Technologies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331107" y="633140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rgbClr val="00B050"/>
                </a:solidFill>
                <a:latin typeface="Gill Sans MT" panose="020B0502020104020203" pitchFamily="34" charset="0"/>
              </a:rPr>
              <a:t>IoT is enabled by several technologies including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65715-81A2-4573-AF89-7B79E07DDF18}"/>
              </a:ext>
            </a:extLst>
          </p:cNvPr>
          <p:cNvSpPr txBox="1"/>
          <p:nvPr/>
        </p:nvSpPr>
        <p:spPr>
          <a:xfrm>
            <a:off x="203200" y="858557"/>
            <a:ext cx="7281637" cy="6629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Wireless Sensor Networks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Cloud Computing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0070C0"/>
                </a:solidFill>
                <a:latin typeface="Gill Sans MT" panose="020B0502020104020203" pitchFamily="34" charset="0"/>
              </a:rPr>
              <a:t>Big Data Analytics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  <a:latin typeface="Gill Sans MT" panose="020B0502020104020203" pitchFamily="34" charset="0"/>
              </a:rPr>
              <a:t>Embedded System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Security protocols and architecture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chemeClr val="accent5"/>
                </a:solidFill>
                <a:latin typeface="Gill Sans MT" panose="020B0502020104020203" pitchFamily="34" charset="0"/>
              </a:rPr>
              <a:t>Communication protocols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Web Services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7030A0"/>
                </a:solidFill>
                <a:latin typeface="Gill Sans MT" panose="020B0502020104020203" pitchFamily="34" charset="0"/>
              </a:rPr>
              <a:t>Mobile Internet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Semantic Search Engine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8A9D84-F537-393F-BCA2-BA009D159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05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Enabling Technologies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255814" y="588988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rgbClr val="00B050"/>
                </a:solidFill>
                <a:latin typeface="Gill Sans MT" panose="020B0502020104020203" pitchFamily="34" charset="0"/>
              </a:rPr>
              <a:t>IoT is enabled by several technologies including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65715-81A2-4573-AF89-7B79E07DDF18}"/>
              </a:ext>
            </a:extLst>
          </p:cNvPr>
          <p:cNvSpPr txBox="1"/>
          <p:nvPr/>
        </p:nvSpPr>
        <p:spPr>
          <a:xfrm>
            <a:off x="190502" y="1011459"/>
            <a:ext cx="11995149" cy="515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Wireless Sensor Networks:- </a:t>
            </a:r>
            <a:r>
              <a:rPr lang="en-US" sz="2400">
                <a:latin typeface="Gill Sans MT" panose="020B0502020104020203" pitchFamily="34" charset="0"/>
              </a:rPr>
              <a:t>WSN comprises of Distributed devices with </a:t>
            </a:r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sensors</a:t>
            </a:r>
            <a:r>
              <a:rPr lang="en-US" sz="2400">
                <a:latin typeface="Gill Sans MT" panose="020B0502020104020203" pitchFamily="34" charset="0"/>
              </a:rPr>
              <a:t> which are used to </a:t>
            </a:r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monitor</a:t>
            </a:r>
            <a:r>
              <a:rPr lang="en-US" sz="2400">
                <a:latin typeface="Gill Sans MT" panose="020B0502020104020203" pitchFamily="34" charset="0"/>
              </a:rPr>
              <a:t> the </a:t>
            </a:r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environmental</a:t>
            </a:r>
            <a:r>
              <a:rPr lang="en-US" sz="2400">
                <a:latin typeface="Gill Sans MT" panose="020B0502020104020203" pitchFamily="34" charset="0"/>
              </a:rPr>
              <a:t> and </a:t>
            </a:r>
            <a:r>
              <a:rPr lang="en-US" sz="2400">
                <a:solidFill>
                  <a:srgbClr val="FF0000"/>
                </a:solidFill>
                <a:latin typeface="Gill Sans MT" panose="020B0502020104020203" pitchFamily="34" charset="0"/>
              </a:rPr>
              <a:t>physical</a:t>
            </a:r>
            <a:r>
              <a:rPr lang="en-US" sz="2400">
                <a:latin typeface="Gill Sans MT" panose="020B0502020104020203" pitchFamily="34" charset="0"/>
              </a:rPr>
              <a:t> conditions.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WSN Consists of End Nodes, Routers and Coordinator.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FF0000"/>
                </a:solidFill>
                <a:latin typeface="Gill Sans MT" panose="020B0502020104020203" pitchFamily="34" charset="0"/>
              </a:rPr>
              <a:t>End Nodes: </a:t>
            </a:r>
            <a:r>
              <a:rPr lang="en-US" sz="2400">
                <a:latin typeface="Gill Sans MT" panose="020B0502020104020203" pitchFamily="34" charset="0"/>
              </a:rPr>
              <a:t>Sensors attached to them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chemeClr val="accent1"/>
                </a:solidFill>
                <a:latin typeface="Gill Sans MT" panose="020B0502020104020203" pitchFamily="34" charset="0"/>
              </a:rPr>
              <a:t>Routers: </a:t>
            </a:r>
            <a:r>
              <a:rPr lang="en-US" sz="2400">
                <a:latin typeface="Gill Sans MT" panose="020B0502020104020203" pitchFamily="34" charset="0"/>
              </a:rPr>
              <a:t>Routers are responsible for routing the data from end nodes to coordinator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b="1">
                <a:solidFill>
                  <a:srgbClr val="C00000"/>
                </a:solidFill>
                <a:latin typeface="Gill Sans MT" panose="020B0502020104020203" pitchFamily="34" charset="0"/>
              </a:rPr>
              <a:t>Co-Ordinator:- </a:t>
            </a:r>
            <a:r>
              <a:rPr lang="en-US" sz="2400">
                <a:latin typeface="Gill Sans MT" panose="020B0502020104020203" pitchFamily="34" charset="0"/>
              </a:rPr>
              <a:t>Collect the data from all the nodes. (Act as gateway that connects the WSN to the Internet)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A7F051-B85D-A9E8-F85D-2763C275C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691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Enabling Technologies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255814" y="588988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rgbClr val="00B050"/>
                </a:solidFill>
                <a:latin typeface="Gill Sans MT" panose="020B0502020104020203" pitchFamily="34" charset="0"/>
              </a:rPr>
              <a:t>IoT is enabled by several technologies including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65715-81A2-4573-AF89-7B79E07DDF18}"/>
              </a:ext>
            </a:extLst>
          </p:cNvPr>
          <p:cNvSpPr txBox="1"/>
          <p:nvPr/>
        </p:nvSpPr>
        <p:spPr>
          <a:xfrm>
            <a:off x="298451" y="974299"/>
            <a:ext cx="11995149" cy="5274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>
                <a:latin typeface="Gill Sans MT" panose="020B0502020104020203" pitchFamily="34" charset="0"/>
              </a:rPr>
              <a:t> Example of  Wireless Sensor Networks :-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Weather Monitoring system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00B050"/>
                </a:solidFill>
                <a:latin typeface="Gill Sans MT" panose="020B0502020104020203" pitchFamily="34" charset="0"/>
              </a:rPr>
              <a:t>Indoor Air quality monitoring system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0070C0"/>
                </a:solidFill>
                <a:latin typeface="Gill Sans MT" panose="020B0502020104020203" pitchFamily="34" charset="0"/>
              </a:rPr>
              <a:t>Soil moisture monitoring system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Surveillance systems use WSN for collecting surveillance data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FFC000"/>
                </a:solidFill>
                <a:latin typeface="Gill Sans MT" panose="020B0502020104020203" pitchFamily="34" charset="0"/>
              </a:rPr>
              <a:t>Smart grids use WSN for monitoring the grid at various points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chemeClr val="tx2"/>
                </a:solidFill>
                <a:latin typeface="Gill Sans MT" panose="020B0502020104020203" pitchFamily="34" charset="0"/>
              </a:rPr>
              <a:t>Structural health monitoring use WSN to monitor the health of structures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7AA842-C1BC-EF99-6EC7-95A9B99B4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3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Enabling Technologies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255814" y="588988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rgbClr val="00B050"/>
                </a:solidFill>
                <a:latin typeface="Gill Sans MT" panose="020B0502020104020203" pitchFamily="34" charset="0"/>
              </a:rPr>
              <a:t>IoT is enabled by several technologies including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65715-81A2-4573-AF89-7B79E07DDF18}"/>
              </a:ext>
            </a:extLst>
          </p:cNvPr>
          <p:cNvSpPr txBox="1"/>
          <p:nvPr/>
        </p:nvSpPr>
        <p:spPr>
          <a:xfrm>
            <a:off x="0" y="819820"/>
            <a:ext cx="12485460" cy="6259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latin typeface="Gill Sans MT" panose="020B0502020104020203" pitchFamily="34" charset="0"/>
              </a:rPr>
              <a:t> Cloud Computing : - It is a transformative computing paradigm that involves </a:t>
            </a:r>
            <a:r>
              <a:rPr lang="en-US" sz="2400" b="1">
                <a:solidFill>
                  <a:srgbClr val="FF0000"/>
                </a:solidFill>
                <a:latin typeface="Gill Sans MT" panose="020B0502020104020203" pitchFamily="34" charset="0"/>
              </a:rPr>
              <a:t>delivering application </a:t>
            </a:r>
            <a:r>
              <a:rPr lang="en-US" sz="2400" b="1">
                <a:latin typeface="Gill Sans MT" panose="020B0502020104020203" pitchFamily="34" charset="0"/>
              </a:rPr>
              <a:t>and </a:t>
            </a:r>
            <a:r>
              <a:rPr lang="en-US" sz="2400" b="1">
                <a:solidFill>
                  <a:srgbClr val="FF0000"/>
                </a:solidFill>
                <a:latin typeface="Gill Sans MT" panose="020B0502020104020203" pitchFamily="34" charset="0"/>
              </a:rPr>
              <a:t>services</a:t>
            </a:r>
            <a:r>
              <a:rPr lang="en-US" sz="2400" b="1">
                <a:latin typeface="Gill Sans MT" panose="020B0502020104020203" pitchFamily="34" charset="0"/>
              </a:rPr>
              <a:t> over the internet.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It involves provisioning of computing, networking and storage resources on demand and providing the resources as metered services to the users. (Pay As You Go) Model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Cloud computing services are offered to users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0070C0"/>
                </a:solidFill>
                <a:latin typeface="Gill Sans MT" panose="020B0502020104020203" pitchFamily="34" charset="0"/>
              </a:rPr>
              <a:t>Infrastructure as a service  (IaaS) : Resources provided to the user as Virtual machine, virtual storage.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7030A0"/>
                </a:solidFill>
                <a:latin typeface="Gill Sans MT" panose="020B0502020104020203" pitchFamily="34" charset="0"/>
              </a:rPr>
              <a:t>Platform as a service (PaaS) : Develop and deploy applications in the cloud using development tools, API (Application Program Interface).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Software as a service (SaaS): Provides user complete software application or the user interface.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49D7BD-0490-58CD-DED9-2DDD7CBD6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1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Enabling Technologies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255814" y="588988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rgbClr val="00B050"/>
                </a:solidFill>
                <a:latin typeface="Gill Sans MT" panose="020B0502020104020203" pitchFamily="34" charset="0"/>
              </a:rPr>
              <a:t>IoT is enabled by several technologies including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65715-81A2-4573-AF89-7B79E07DDF18}"/>
              </a:ext>
            </a:extLst>
          </p:cNvPr>
          <p:cNvSpPr txBox="1"/>
          <p:nvPr/>
        </p:nvSpPr>
        <p:spPr>
          <a:xfrm>
            <a:off x="0" y="819820"/>
            <a:ext cx="12485460" cy="6259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latin typeface="Gill Sans MT" panose="020B0502020104020203" pitchFamily="34" charset="0"/>
              </a:rPr>
              <a:t> Cloud Computing : - It is a transformative computing paradigm that involves </a:t>
            </a:r>
            <a:r>
              <a:rPr lang="en-US" sz="2400" b="1">
                <a:solidFill>
                  <a:srgbClr val="FF0000"/>
                </a:solidFill>
                <a:latin typeface="Gill Sans MT" panose="020B0502020104020203" pitchFamily="34" charset="0"/>
              </a:rPr>
              <a:t>delivering application </a:t>
            </a:r>
            <a:r>
              <a:rPr lang="en-US" sz="2400" b="1">
                <a:latin typeface="Gill Sans MT" panose="020B0502020104020203" pitchFamily="34" charset="0"/>
              </a:rPr>
              <a:t>and </a:t>
            </a:r>
            <a:r>
              <a:rPr lang="en-US" sz="2400" b="1">
                <a:solidFill>
                  <a:srgbClr val="FF0000"/>
                </a:solidFill>
                <a:latin typeface="Gill Sans MT" panose="020B0502020104020203" pitchFamily="34" charset="0"/>
              </a:rPr>
              <a:t>services</a:t>
            </a:r>
            <a:r>
              <a:rPr lang="en-US" sz="2400" b="1">
                <a:latin typeface="Gill Sans MT" panose="020B0502020104020203" pitchFamily="34" charset="0"/>
              </a:rPr>
              <a:t> over the internet.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It involves provisioning of computing, networking and storage resources on demand and providing the resources as metered services to the users. (Pay As You Go) Model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Gill Sans MT" panose="020B0502020104020203" pitchFamily="34" charset="0"/>
              </a:rPr>
              <a:t>Cloud computing services are offered to users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0070C0"/>
                </a:solidFill>
                <a:latin typeface="Gill Sans MT" panose="020B0502020104020203" pitchFamily="34" charset="0"/>
              </a:rPr>
              <a:t>Infrastructure as a service  (IaaS) : Resources provided to the user as Virtual machine, virtual storage.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7030A0"/>
                </a:solidFill>
                <a:latin typeface="Gill Sans MT" panose="020B0502020104020203" pitchFamily="34" charset="0"/>
              </a:rPr>
              <a:t>Platform as a service (PaaS) : Develop and deploy applications in the cloud using development tools, API (Application Program Interface).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Software as a service (SaaS): Provides user complete software application or the user interface.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34DBA0-DE50-2218-4C3F-161676FF3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2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Enabling Technologies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255814" y="633140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rgbClr val="00B050"/>
                </a:solidFill>
                <a:latin typeface="Gill Sans MT" panose="020B0502020104020203" pitchFamily="34" charset="0"/>
              </a:rPr>
              <a:t>IoT is enabled by several technologies including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65715-81A2-4573-AF89-7B79E07DDF18}"/>
              </a:ext>
            </a:extLst>
          </p:cNvPr>
          <p:cNvSpPr txBox="1"/>
          <p:nvPr/>
        </p:nvSpPr>
        <p:spPr>
          <a:xfrm>
            <a:off x="255814" y="1050653"/>
            <a:ext cx="11929837" cy="4459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>
                <a:latin typeface="Gill Sans MT" panose="020B0502020104020203" pitchFamily="34" charset="0"/>
              </a:rPr>
              <a:t>Big Data Analysis: -  </a:t>
            </a:r>
            <a:r>
              <a:rPr lang="en-US" sz="2400">
                <a:latin typeface="Gill Sans MT" panose="020B0502020104020203" pitchFamily="34" charset="0"/>
              </a:rPr>
              <a:t>Big data is defined as collections of data sets whose </a:t>
            </a:r>
            <a:r>
              <a:rPr lang="en-US" sz="2400" b="1">
                <a:latin typeface="Gill Sans MT" panose="020B0502020104020203" pitchFamily="34" charset="0"/>
              </a:rPr>
              <a:t>Volume, Velocity </a:t>
            </a:r>
            <a:r>
              <a:rPr lang="en-US" sz="2400">
                <a:latin typeface="Gill Sans MT" panose="020B0502020104020203" pitchFamily="34" charset="0"/>
              </a:rPr>
              <a:t>(In terms of its temporal variation), </a:t>
            </a:r>
            <a:r>
              <a:rPr lang="en-US" sz="2400" b="1">
                <a:latin typeface="Gill Sans MT" panose="020B0502020104020203" pitchFamily="34" charset="0"/>
              </a:rPr>
              <a:t>Variety</a:t>
            </a:r>
            <a:r>
              <a:rPr lang="en-US" sz="2400">
                <a:latin typeface="Gill Sans MT" panose="020B0502020104020203" pitchFamily="34" charset="0"/>
              </a:rPr>
              <a:t> is so large that it is difficult to store manage process and analyze the data using traditional </a:t>
            </a:r>
            <a:r>
              <a:rPr lang="en-US" sz="2400" b="1">
                <a:latin typeface="Gill Sans MT" panose="020B0502020104020203" pitchFamily="34" charset="0"/>
              </a:rPr>
              <a:t>data bases </a:t>
            </a:r>
            <a:r>
              <a:rPr lang="en-US" sz="2400">
                <a:latin typeface="Gill Sans MT" panose="020B0502020104020203" pitchFamily="34" charset="0"/>
              </a:rPr>
              <a:t>and </a:t>
            </a:r>
            <a:r>
              <a:rPr lang="en-US" sz="2400" b="1">
                <a:latin typeface="Gill Sans MT" panose="020B0502020104020203" pitchFamily="34" charset="0"/>
              </a:rPr>
              <a:t>data processing tools</a:t>
            </a:r>
            <a:r>
              <a:rPr lang="en-US" sz="2400">
                <a:latin typeface="Gill Sans MT" panose="020B0502020104020203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2400" b="1">
                <a:solidFill>
                  <a:srgbClr val="FF0000"/>
                </a:solidFill>
                <a:latin typeface="Gill Sans MT" panose="020B0502020104020203" pitchFamily="34" charset="0"/>
              </a:rPr>
              <a:t>Examples of IoT Systems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7030A0"/>
                </a:solidFill>
                <a:latin typeface="Gill Sans MT" panose="020B0502020104020203" pitchFamily="34" charset="0"/>
              </a:rPr>
              <a:t>Sensor data generated by IoT Systems ( Ex:- Weather monitoring systems)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7030A0"/>
                </a:solidFill>
                <a:latin typeface="Gill Sans MT" panose="020B0502020104020203" pitchFamily="34" charset="0"/>
              </a:rPr>
              <a:t>Health and fitness data generated by IoT Systems. (Wearable Fitness Bands)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7030A0"/>
                </a:solidFill>
                <a:latin typeface="Gill Sans MT" panose="020B0502020104020203" pitchFamily="34" charset="0"/>
              </a:rPr>
              <a:t>Data Generated by IoT Systems for locating and tracking of vehicles.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>
                <a:solidFill>
                  <a:srgbClr val="C00000"/>
                </a:solidFill>
                <a:latin typeface="Gill Sans MT" panose="020B0502020104020203" pitchFamily="34" charset="0"/>
              </a:rPr>
              <a:t> </a:t>
            </a:r>
            <a:r>
              <a:rPr lang="en-US" sz="2400">
                <a:solidFill>
                  <a:srgbClr val="7030A0"/>
                </a:solidFill>
                <a:latin typeface="Gill Sans MT" panose="020B0502020104020203" pitchFamily="34" charset="0"/>
              </a:rPr>
              <a:t>Data generated by retail inventory monitoring system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ACEB15-036C-8C58-9007-8E8EFDC95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Enabling Technologies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255814" y="633140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rgbClr val="00B050"/>
                </a:solidFill>
                <a:latin typeface="Gill Sans MT" panose="020B0502020104020203" pitchFamily="34" charset="0"/>
              </a:rPr>
              <a:t>IoT is enabled by several technologies including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65715-81A2-4573-AF89-7B79E07DDF18}"/>
              </a:ext>
            </a:extLst>
          </p:cNvPr>
          <p:cNvSpPr txBox="1"/>
          <p:nvPr/>
        </p:nvSpPr>
        <p:spPr>
          <a:xfrm>
            <a:off x="255814" y="1050653"/>
            <a:ext cx="11929837" cy="581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>
                <a:latin typeface="Gill Sans MT" panose="020B0502020104020203" pitchFamily="34" charset="0"/>
              </a:rPr>
              <a:t>Characteristics of Big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5E9A20-401D-4307-8044-B74D2D3A8550}"/>
              </a:ext>
            </a:extLst>
          </p:cNvPr>
          <p:cNvSpPr txBox="1"/>
          <p:nvPr/>
        </p:nvSpPr>
        <p:spPr>
          <a:xfrm>
            <a:off x="304800" y="1708256"/>
            <a:ext cx="11176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>
                <a:latin typeface="Gill Sans MT" panose="020B0502020104020203" pitchFamily="34" charset="0"/>
              </a:rPr>
              <a:t>Volume: </a:t>
            </a:r>
            <a:r>
              <a:rPr lang="en-US" sz="2400">
                <a:latin typeface="Gill Sans MT" panose="020B0502020104020203" pitchFamily="34" charset="0"/>
              </a:rPr>
              <a:t>No fixed threshold for the volume of data to be considered as big data.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>
                <a:latin typeface="Gill Sans MT" panose="020B0502020104020203" pitchFamily="34" charset="0"/>
              </a:rPr>
              <a:t>Velocity: </a:t>
            </a:r>
            <a:r>
              <a:rPr lang="en-US" sz="2400">
                <a:latin typeface="Gill Sans MT" panose="020B0502020104020203" pitchFamily="34" charset="0"/>
              </a:rPr>
              <a:t>How fast the data is generated and how frequently it varies.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>
                <a:latin typeface="Gill Sans MT" panose="020B0502020104020203" pitchFamily="34" charset="0"/>
              </a:rPr>
              <a:t>Variety:  </a:t>
            </a:r>
            <a:r>
              <a:rPr lang="en-US" sz="2400">
                <a:latin typeface="Gill Sans MT" panose="020B0502020104020203" pitchFamily="34" charset="0"/>
              </a:rPr>
              <a:t>Variety refers to the forms of the data. </a:t>
            </a:r>
          </a:p>
          <a:p>
            <a:pPr>
              <a:lnSpc>
                <a:spcPct val="150000"/>
              </a:lnSpc>
            </a:pPr>
            <a:r>
              <a:rPr lang="en-US" sz="2400">
                <a:latin typeface="Gill Sans MT" panose="020B0502020104020203" pitchFamily="34" charset="0"/>
              </a:rPr>
              <a:t>Big data comes in different forms such as structured (or) unstructured data. </a:t>
            </a:r>
          </a:p>
          <a:p>
            <a:pPr>
              <a:lnSpc>
                <a:spcPct val="150000"/>
              </a:lnSpc>
            </a:pPr>
            <a:endParaRPr lang="en-US" sz="2400">
              <a:latin typeface="Gill Sans MT" panose="020B05020201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rgbClr val="0070C0"/>
                </a:solidFill>
                <a:latin typeface="Gill Sans MT" panose="020B0502020104020203" pitchFamily="34" charset="0"/>
              </a:rPr>
              <a:t>Data Includes data, image, audio, video and sensor data. </a:t>
            </a:r>
          </a:p>
          <a:p>
            <a:r>
              <a:rPr lang="en-US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3A2367-D6FE-F502-F7D8-9DEAF2A53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20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Enabling Technologies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255814" y="633140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rgbClr val="00B050"/>
                </a:solidFill>
                <a:latin typeface="Gill Sans MT" panose="020B0502020104020203" pitchFamily="34" charset="0"/>
              </a:rPr>
              <a:t>IoT is enabled by several technologies including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65715-81A2-4573-AF89-7B79E07DDF18}"/>
              </a:ext>
            </a:extLst>
          </p:cNvPr>
          <p:cNvSpPr txBox="1"/>
          <p:nvPr/>
        </p:nvSpPr>
        <p:spPr>
          <a:xfrm>
            <a:off x="255814" y="1050653"/>
            <a:ext cx="11936186" cy="581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>
                <a:solidFill>
                  <a:srgbClr val="FF0000"/>
                </a:solidFill>
                <a:latin typeface="Gill Sans MT" panose="020B0502020104020203" pitchFamily="34" charset="0"/>
              </a:rPr>
              <a:t>Communication Protocols (These protocols form the backbone of IoT System)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5E9A20-401D-4307-8044-B74D2D3A8550}"/>
              </a:ext>
            </a:extLst>
          </p:cNvPr>
          <p:cNvSpPr txBox="1"/>
          <p:nvPr/>
        </p:nvSpPr>
        <p:spPr>
          <a:xfrm>
            <a:off x="255814" y="1689131"/>
            <a:ext cx="117329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Enables network connectivity and coupling to applications.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These allow devices to exchange data over the network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Define data exchange formats, data encoding, addressing schemes for devices and routing of packets from source to destination.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Sequence control (Ordering packets determining lost packets)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Flow Control (Controlling the rate at which sender sending the data)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Gill Sans MT" panose="020B0502020104020203" pitchFamily="34" charset="0"/>
              </a:rPr>
              <a:t>Retransmission of lost packet. </a:t>
            </a:r>
          </a:p>
          <a:p>
            <a:r>
              <a:rPr lang="en-US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9070AD-72DA-A5E1-ED1D-E8AF6778A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43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8000" y="1600201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  <a:p>
            <a:endParaRPr lang="en-US" sz="2400"/>
          </a:p>
        </p:txBody>
      </p:sp>
      <p:sp>
        <p:nvSpPr>
          <p:cNvPr id="7" name="Rectangle 6"/>
          <p:cNvSpPr/>
          <p:nvPr/>
        </p:nvSpPr>
        <p:spPr>
          <a:xfrm>
            <a:off x="0" y="-16301"/>
            <a:ext cx="121920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349" y="-16301"/>
            <a:ext cx="298451" cy="6874301"/>
          </a:xfrm>
          <a:prstGeom prst="rect">
            <a:avLst/>
          </a:prstGeom>
          <a:solidFill>
            <a:srgbClr val="FFD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203200" y="-15796"/>
            <a:ext cx="1198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>
                <a:latin typeface="Gill Sans MT" panose="020B0502020104020203" pitchFamily="34" charset="0"/>
              </a:rPr>
              <a:t>IoT Enabling Technologies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88396-C71C-4B0F-BA85-5050B3B20F81}"/>
              </a:ext>
            </a:extLst>
          </p:cNvPr>
          <p:cNvSpPr txBox="1"/>
          <p:nvPr/>
        </p:nvSpPr>
        <p:spPr>
          <a:xfrm>
            <a:off x="255814" y="633140"/>
            <a:ext cx="1173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srgbClr val="00B050"/>
                </a:solidFill>
                <a:latin typeface="Gill Sans MT" panose="020B0502020104020203" pitchFamily="34" charset="0"/>
              </a:rPr>
              <a:t>IoT is enabled by several technologies including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465715-81A2-4573-AF89-7B79E07DDF18}"/>
              </a:ext>
            </a:extLst>
          </p:cNvPr>
          <p:cNvSpPr txBox="1"/>
          <p:nvPr/>
        </p:nvSpPr>
        <p:spPr>
          <a:xfrm>
            <a:off x="255814" y="1050653"/>
            <a:ext cx="11929837" cy="581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>
                <a:latin typeface="Gill Sans MT" panose="020B0502020104020203" pitchFamily="34" charset="0"/>
              </a:rPr>
              <a:t>Embedded System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5E9A20-401D-4307-8044-B74D2D3A8550}"/>
              </a:ext>
            </a:extLst>
          </p:cNvPr>
          <p:cNvSpPr txBox="1"/>
          <p:nvPr/>
        </p:nvSpPr>
        <p:spPr>
          <a:xfrm>
            <a:off x="304800" y="1708256"/>
            <a:ext cx="11379200" cy="556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Gill Sans MT" panose="020B0502020104020203" pitchFamily="34" charset="0"/>
              </a:rPr>
              <a:t> An Embedded system is a computer system that has computer hardware and software embedded to perform specific tasks.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Gill Sans MT" panose="020B0502020104020203" pitchFamily="34" charset="0"/>
              </a:rPr>
              <a:t>Embedded systems are used for specific task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Gill Sans MT" panose="020B0502020104020203" pitchFamily="34" charset="0"/>
              </a:rPr>
              <a:t>Key components of embedded system include (Micro Processor / Micro Controller, Memory (RAM, ROM, Cache), Storage (Such as Flash Memory)).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Gill Sans MT" panose="020B0502020104020203" pitchFamily="34" charset="0"/>
              </a:rPr>
              <a:t>Embedded systems runs on embedded operating system (or) Real time operating system.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Gill Sans MT" panose="020B0502020104020203" pitchFamily="34" charset="0"/>
              </a:rPr>
              <a:t> Digital watches, Digital Cameras, Vending machines, Home applications (Washing machines)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EF98E7-32BE-F5EE-A1D0-800D6820B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5" y="45205"/>
            <a:ext cx="3312586" cy="9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5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2020</Words>
  <Application>Microsoft Macintosh PowerPoint</Application>
  <PresentationFormat>Widescreen</PresentationFormat>
  <Paragraphs>248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Gill Sans MT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rameshreddy_d@vnrvjiet.org</dc:creator>
  <cp:lastModifiedBy>rameshreddy_d@vnrvjiet.org</cp:lastModifiedBy>
  <cp:revision>3</cp:revision>
  <dcterms:created xsi:type="dcterms:W3CDTF">2024-11-17T10:03:39Z</dcterms:created>
  <dcterms:modified xsi:type="dcterms:W3CDTF">2026-10-11T06:57:02Z</dcterms:modified>
</cp:coreProperties>
</file>